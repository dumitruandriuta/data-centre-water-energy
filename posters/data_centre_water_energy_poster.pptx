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chart2.xml" ContentType="application/vnd.openxmlformats-officedocument.drawingml.char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4"/>
  </p:sldMasterIdLst>
  <p:notesMasterIdLst>
    <p:notesMasterId r:id="rId6"/>
  </p:notesMasterIdLst>
  <p:sldIdLst>
    <p:sldId id="257" r:id="rId5"/>
  </p:sldIdLst>
  <p:sldSz cx="21388388" cy="30248225"/>
  <p:notesSz cx="6858000" cy="9144000"/>
  <p:defaultTextStyle>
    <a:defPPr>
      <a:defRPr lang="en-US"/>
    </a:defPPr>
    <a:lvl1pPr marL="0" algn="l" defTabSz="1475293" rtl="0" eaLnBrk="1" latinLnBrk="0" hangingPunct="1">
      <a:defRPr sz="5800" kern="1200">
        <a:solidFill>
          <a:schemeClr val="tx1"/>
        </a:solidFill>
        <a:latin typeface="+mn-lt"/>
        <a:ea typeface="+mn-ea"/>
        <a:cs typeface="+mn-cs"/>
      </a:defRPr>
    </a:lvl1pPr>
    <a:lvl2pPr marL="1475293" algn="l" defTabSz="1475293" rtl="0" eaLnBrk="1" latinLnBrk="0" hangingPunct="1">
      <a:defRPr sz="5800" kern="1200">
        <a:solidFill>
          <a:schemeClr val="tx1"/>
        </a:solidFill>
        <a:latin typeface="+mn-lt"/>
        <a:ea typeface="+mn-ea"/>
        <a:cs typeface="+mn-cs"/>
      </a:defRPr>
    </a:lvl2pPr>
    <a:lvl3pPr marL="2950586" algn="l" defTabSz="1475293" rtl="0" eaLnBrk="1" latinLnBrk="0" hangingPunct="1">
      <a:defRPr sz="5800" kern="1200">
        <a:solidFill>
          <a:schemeClr val="tx1"/>
        </a:solidFill>
        <a:latin typeface="+mn-lt"/>
        <a:ea typeface="+mn-ea"/>
        <a:cs typeface="+mn-cs"/>
      </a:defRPr>
    </a:lvl3pPr>
    <a:lvl4pPr marL="4425879" algn="l" defTabSz="1475293" rtl="0" eaLnBrk="1" latinLnBrk="0" hangingPunct="1">
      <a:defRPr sz="5800" kern="1200">
        <a:solidFill>
          <a:schemeClr val="tx1"/>
        </a:solidFill>
        <a:latin typeface="+mn-lt"/>
        <a:ea typeface="+mn-ea"/>
        <a:cs typeface="+mn-cs"/>
      </a:defRPr>
    </a:lvl4pPr>
    <a:lvl5pPr marL="5901172" algn="l" defTabSz="1475293" rtl="0" eaLnBrk="1" latinLnBrk="0" hangingPunct="1">
      <a:defRPr sz="5800" kern="1200">
        <a:solidFill>
          <a:schemeClr val="tx1"/>
        </a:solidFill>
        <a:latin typeface="+mn-lt"/>
        <a:ea typeface="+mn-ea"/>
        <a:cs typeface="+mn-cs"/>
      </a:defRPr>
    </a:lvl5pPr>
    <a:lvl6pPr marL="7376465" algn="l" defTabSz="1475293" rtl="0" eaLnBrk="1" latinLnBrk="0" hangingPunct="1">
      <a:defRPr sz="5800" kern="1200">
        <a:solidFill>
          <a:schemeClr val="tx1"/>
        </a:solidFill>
        <a:latin typeface="+mn-lt"/>
        <a:ea typeface="+mn-ea"/>
        <a:cs typeface="+mn-cs"/>
      </a:defRPr>
    </a:lvl6pPr>
    <a:lvl7pPr marL="8851758" algn="l" defTabSz="1475293" rtl="0" eaLnBrk="1" latinLnBrk="0" hangingPunct="1">
      <a:defRPr sz="5800" kern="1200">
        <a:solidFill>
          <a:schemeClr val="tx1"/>
        </a:solidFill>
        <a:latin typeface="+mn-lt"/>
        <a:ea typeface="+mn-ea"/>
        <a:cs typeface="+mn-cs"/>
      </a:defRPr>
    </a:lvl7pPr>
    <a:lvl8pPr marL="10327051" algn="l" defTabSz="1475293" rtl="0" eaLnBrk="1" latinLnBrk="0" hangingPunct="1">
      <a:defRPr sz="5800" kern="1200">
        <a:solidFill>
          <a:schemeClr val="tx1"/>
        </a:solidFill>
        <a:latin typeface="+mn-lt"/>
        <a:ea typeface="+mn-ea"/>
        <a:cs typeface="+mn-cs"/>
      </a:defRPr>
    </a:lvl8pPr>
    <a:lvl9pPr marL="11802344" algn="l" defTabSz="1475293" rtl="0" eaLnBrk="1" latinLnBrk="0" hangingPunct="1">
      <a:defRPr sz="5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9527">
          <p15:clr>
            <a:srgbClr val="A4A3A4"/>
          </p15:clr>
        </p15:guide>
        <p15:guide id="2" pos="6737">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E8A33D"/>
        </p14:laserClr>
      </p:ext>
      <p:ext uri="{2FDB2607-1784-4EEB-B798-7EB5836EED8A}">
        <p14:showMediaCtrls xmlns:p14="http://schemas.microsoft.com/office/powerpoint/2010/main" val="1"/>
      </p:ext>
    </p:extLst>
  </p:showPr>
  <p:clrMru>
    <a:srgbClr val="0F2537"/>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94"/>
  </p:normalViewPr>
  <p:slideViewPr>
    <p:cSldViewPr snapToGrid="0" snapToObjects="1">
      <p:cViewPr varScale="1">
        <p:scale>
          <a:sx n="19" d="100"/>
          <a:sy n="19" d="100"/>
        </p:scale>
        <p:origin x="2484" y="116"/>
      </p:cViewPr>
      <p:guideLst>
        <p:guide orient="horz" pos="9527"/>
        <p:guide pos="6737"/>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viewProps" Target="viewProps.xml"/><Relationship Id="rId3" Type="http://schemas.openxmlformats.org/officeDocument/2006/relationships/customXml" Target="../customXml/item3.xml"/><Relationship Id="rId7" Type="http://schemas.openxmlformats.org/officeDocument/2006/relationships/presProps" Target="presProps.xml"/><Relationship Id="rId2" Type="http://schemas.openxmlformats.org/officeDocument/2006/relationships/customXml" Target="../customXml/item2.xml"/><Relationship Id="rId1" Type="http://schemas.openxmlformats.org/officeDocument/2006/relationships/customXml" Target="../customXml/item1.xml"/><Relationship Id="rId6" Type="http://schemas.openxmlformats.org/officeDocument/2006/relationships/notesMaster" Target="notesMasters/notesMaster1.xml"/><Relationship Id="rId5" Type="http://schemas.openxmlformats.org/officeDocument/2006/relationships/slide" Target="slides/slide1.xml"/><Relationship Id="rId10"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r>
              <a:rPr sz="1600" b="1">
                <a:latin typeface="Arial"/>
              </a:rPr>
              <a:t>Google PUE minus model PUE</a:t>
            </a:r>
          </a:p>
        </c:rich>
      </c:tx>
      <c:overlay val="0"/>
    </c:title>
    <c:autoTitleDeleted val="0"/>
    <c:plotArea>
      <c:layout/>
      <c:barChart>
        <c:barDir val="bar"/>
        <c:grouping val="clustered"/>
        <c:varyColors val="1"/>
        <c:ser>
          <c:idx val="0"/>
          <c:order val="0"/>
          <c:tx>
            <c:strRef>
              <c:f>Sheet1!$B$1</c:f>
              <c:strCache>
                <c:ptCount val="1"/>
                <c:pt idx="0">
                  <c:v>Google minus Case 1</c:v>
                </c:pt>
              </c:strCache>
            </c:strRef>
          </c:tx>
          <c:invertIfNegative val="1"/>
          <c:dPt>
            <c:idx val="0"/>
            <c:invertIfNegative val="1"/>
            <c:bubble3D val="0"/>
            <c:spPr>
              <a:solidFill>
                <a:srgbClr val="009EA0"/>
              </a:solidFill>
            </c:spPr>
            <c:extLst>
              <c:ext xmlns:c16="http://schemas.microsoft.com/office/drawing/2014/chart" uri="{C3380CC4-5D6E-409C-BE32-E72D297353CC}">
                <c16:uniqueId val="{00000001-1FAE-41AA-AA74-16B97815AAE3}"/>
              </c:ext>
            </c:extLst>
          </c:dPt>
          <c:dPt>
            <c:idx val="1"/>
            <c:invertIfNegative val="1"/>
            <c:bubble3D val="0"/>
            <c:spPr>
              <a:solidFill>
                <a:srgbClr val="009EA0"/>
              </a:solidFill>
            </c:spPr>
            <c:extLst>
              <c:ext xmlns:c16="http://schemas.microsoft.com/office/drawing/2014/chart" uri="{C3380CC4-5D6E-409C-BE32-E72D297353CC}">
                <c16:uniqueId val="{00000003-1FAE-41AA-AA74-16B97815AAE3}"/>
              </c:ext>
            </c:extLst>
          </c:dPt>
          <c:dPt>
            <c:idx val="2"/>
            <c:invertIfNegative val="1"/>
            <c:bubble3D val="0"/>
            <c:spPr>
              <a:solidFill>
                <a:srgbClr val="009EA0"/>
              </a:solidFill>
            </c:spPr>
            <c:extLst>
              <c:ext xmlns:c16="http://schemas.microsoft.com/office/drawing/2014/chart" uri="{C3380CC4-5D6E-409C-BE32-E72D297353CC}">
                <c16:uniqueId val="{00000005-1FAE-41AA-AA74-16B97815AAE3}"/>
              </c:ext>
            </c:extLst>
          </c:dPt>
          <c:dPt>
            <c:idx val="3"/>
            <c:invertIfNegative val="1"/>
            <c:bubble3D val="0"/>
            <c:spPr>
              <a:solidFill>
                <a:srgbClr val="009EA0"/>
              </a:solidFill>
            </c:spPr>
            <c:extLst>
              <c:ext xmlns:c16="http://schemas.microsoft.com/office/drawing/2014/chart" uri="{C3380CC4-5D6E-409C-BE32-E72D297353CC}">
                <c16:uniqueId val="{00000007-1FAE-41AA-AA74-16B97815AAE3}"/>
              </c:ext>
            </c:extLst>
          </c:dPt>
          <c:dPt>
            <c:idx val="4"/>
            <c:invertIfNegative val="1"/>
            <c:bubble3D val="0"/>
            <c:spPr>
              <a:solidFill>
                <a:srgbClr val="009EA0"/>
              </a:solidFill>
            </c:spPr>
            <c:extLst>
              <c:ext xmlns:c16="http://schemas.microsoft.com/office/drawing/2014/chart" uri="{C3380CC4-5D6E-409C-BE32-E72D297353CC}">
                <c16:uniqueId val="{00000009-1FAE-41AA-AA74-16B97815AAE3}"/>
              </c:ext>
            </c:extLst>
          </c:dPt>
          <c:dPt>
            <c:idx val="5"/>
            <c:invertIfNegative val="1"/>
            <c:bubble3D val="0"/>
            <c:spPr>
              <a:solidFill>
                <a:srgbClr val="009EA0"/>
              </a:solidFill>
            </c:spPr>
            <c:extLst>
              <c:ext xmlns:c16="http://schemas.microsoft.com/office/drawing/2014/chart" uri="{C3380CC4-5D6E-409C-BE32-E72D297353CC}">
                <c16:uniqueId val="{0000000B-1FAE-41AA-AA74-16B97815AAE3}"/>
              </c:ext>
            </c:extLst>
          </c:dPt>
          <c:dPt>
            <c:idx val="6"/>
            <c:invertIfNegative val="1"/>
            <c:bubble3D val="0"/>
            <c:spPr>
              <a:solidFill>
                <a:srgbClr val="009EA0"/>
              </a:solidFill>
            </c:spPr>
            <c:extLst>
              <c:ext xmlns:c16="http://schemas.microsoft.com/office/drawing/2014/chart" uri="{C3380CC4-5D6E-409C-BE32-E72D297353CC}">
                <c16:uniqueId val="{0000000D-1FAE-41AA-AA74-16B97815AAE3}"/>
              </c:ext>
            </c:extLst>
          </c:dPt>
          <c:dPt>
            <c:idx val="7"/>
            <c:invertIfNegative val="1"/>
            <c:bubble3D val="0"/>
            <c:spPr>
              <a:solidFill>
                <a:srgbClr val="009EA0"/>
              </a:solidFill>
            </c:spPr>
            <c:extLst>
              <c:ext xmlns:c16="http://schemas.microsoft.com/office/drawing/2014/chart" uri="{C3380CC4-5D6E-409C-BE32-E72D297353CC}">
                <c16:uniqueId val="{0000000F-1FAE-41AA-AA74-16B97815AAE3}"/>
              </c:ext>
            </c:extLst>
          </c:dPt>
          <c:dPt>
            <c:idx val="8"/>
            <c:invertIfNegative val="1"/>
            <c:bubble3D val="0"/>
            <c:spPr>
              <a:solidFill>
                <a:srgbClr val="009EA0"/>
              </a:solidFill>
            </c:spPr>
            <c:extLst>
              <c:ext xmlns:c16="http://schemas.microsoft.com/office/drawing/2014/chart" uri="{C3380CC4-5D6E-409C-BE32-E72D297353CC}">
                <c16:uniqueId val="{00000011-1FAE-41AA-AA74-16B97815AAE3}"/>
              </c:ext>
            </c:extLst>
          </c:dPt>
          <c:dPt>
            <c:idx val="9"/>
            <c:invertIfNegative val="1"/>
            <c:bubble3D val="0"/>
            <c:spPr>
              <a:solidFill>
                <a:srgbClr val="009EA0"/>
              </a:solidFill>
            </c:spPr>
            <c:extLst>
              <c:ext xmlns:c16="http://schemas.microsoft.com/office/drawing/2014/chart" uri="{C3380CC4-5D6E-409C-BE32-E72D297353CC}">
                <c16:uniqueId val="{00000013-1FAE-41AA-AA74-16B97815AAE3}"/>
              </c:ext>
            </c:extLst>
          </c:dPt>
          <c:dPt>
            <c:idx val="10"/>
            <c:invertIfNegative val="1"/>
            <c:bubble3D val="0"/>
            <c:spPr>
              <a:solidFill>
                <a:srgbClr val="009EA0"/>
              </a:solidFill>
            </c:spPr>
            <c:extLst>
              <c:ext xmlns:c16="http://schemas.microsoft.com/office/drawing/2014/chart" uri="{C3380CC4-5D6E-409C-BE32-E72D297353CC}">
                <c16:uniqueId val="{00000015-1FAE-41AA-AA74-16B97815AAE3}"/>
              </c:ext>
            </c:extLst>
          </c:dPt>
          <c:dPt>
            <c:idx val="11"/>
            <c:invertIfNegative val="1"/>
            <c:bubble3D val="0"/>
            <c:spPr>
              <a:solidFill>
                <a:srgbClr val="009EA0"/>
              </a:solidFill>
            </c:spPr>
            <c:extLst>
              <c:ext xmlns:c16="http://schemas.microsoft.com/office/drawing/2014/chart" uri="{C3380CC4-5D6E-409C-BE32-E72D297353CC}">
                <c16:uniqueId val="{00000017-1FAE-41AA-AA74-16B97815AAE3}"/>
              </c:ext>
            </c:extLst>
          </c:dPt>
          <c:dPt>
            <c:idx val="12"/>
            <c:invertIfNegative val="1"/>
            <c:bubble3D val="0"/>
            <c:spPr>
              <a:solidFill>
                <a:srgbClr val="009EA0"/>
              </a:solidFill>
            </c:spPr>
            <c:extLst>
              <c:ext xmlns:c16="http://schemas.microsoft.com/office/drawing/2014/chart" uri="{C3380CC4-5D6E-409C-BE32-E72D297353CC}">
                <c16:uniqueId val="{00000019-1FAE-41AA-AA74-16B97815AAE3}"/>
              </c:ext>
            </c:extLst>
          </c:dPt>
          <c:dPt>
            <c:idx val="13"/>
            <c:invertIfNegative val="1"/>
            <c:bubble3D val="0"/>
            <c:spPr>
              <a:solidFill>
                <a:srgbClr val="009EA0"/>
              </a:solidFill>
            </c:spPr>
            <c:extLst>
              <c:ext xmlns:c16="http://schemas.microsoft.com/office/drawing/2014/chart" uri="{C3380CC4-5D6E-409C-BE32-E72D297353CC}">
                <c16:uniqueId val="{0000001B-1FAE-41AA-AA74-16B97815AAE3}"/>
              </c:ext>
            </c:extLst>
          </c:dPt>
          <c:dPt>
            <c:idx val="14"/>
            <c:invertIfNegative val="1"/>
            <c:bubble3D val="0"/>
            <c:spPr>
              <a:solidFill>
                <a:srgbClr val="0E7C7B"/>
              </a:solidFill>
            </c:spPr>
            <c:extLst>
              <c:ext xmlns:c16="http://schemas.microsoft.com/office/drawing/2014/chart" uri="{C3380CC4-5D6E-409C-BE32-E72D297353CC}">
                <c16:uniqueId val="{0000001D-1FAE-41AA-AA74-16B97815AAE3}"/>
              </c:ext>
            </c:extLst>
          </c:dPt>
          <c:dLbls>
            <c:numFmt formatCode="0.000" sourceLinked="0"/>
            <c:spPr>
              <a:noFill/>
              <a:ln>
                <a:noFill/>
              </a:ln>
              <a:effectLst/>
            </c:spPr>
            <c:txPr>
              <a:bodyPr/>
              <a:lstStyle/>
              <a:p>
                <a:pPr>
                  <a:defRPr sz="18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Midlothian TX</c:v>
                </c:pt>
                <c:pt idx="1">
                  <c:v>Lancaster OH</c:v>
                </c:pt>
                <c:pt idx="2">
                  <c:v>Omaha NE</c:v>
                </c:pt>
                <c:pt idx="3">
                  <c:v>New Albany OH</c:v>
                </c:pt>
                <c:pt idx="4">
                  <c:v>Douglas County GA</c:v>
                </c:pt>
                <c:pt idx="5">
                  <c:v>Berkeley County SC</c:v>
                </c:pt>
                <c:pt idx="6">
                  <c:v>Jackson County AL</c:v>
                </c:pt>
                <c:pt idx="7">
                  <c:v>Henderson NV</c:v>
                </c:pt>
                <c:pt idx="8">
                  <c:v>Montgomery County TN</c:v>
                </c:pt>
                <c:pt idx="9">
                  <c:v>Mayes County OK</c:v>
                </c:pt>
                <c:pt idx="10">
                  <c:v>Papillion NE</c:v>
                </c:pt>
                <c:pt idx="11">
                  <c:v>Lenoir NC</c:v>
                </c:pt>
                <c:pt idx="12">
                  <c:v>The Dalles OR</c:v>
                </c:pt>
                <c:pt idx="13">
                  <c:v>Council Bluffs IA</c:v>
                </c:pt>
                <c:pt idx="14">
                  <c:v>Storey County NV</c:v>
                </c:pt>
              </c:strCache>
            </c:strRef>
          </c:cat>
          <c:val>
            <c:numRef>
              <c:f>Sheet1!$B$2:$B$16</c:f>
              <c:numCache>
                <c:formatCode>General</c:formatCode>
                <c:ptCount val="15"/>
                <c:pt idx="0">
                  <c:v>-6.7000000000000004E-2</c:v>
                </c:pt>
                <c:pt idx="1">
                  <c:v>-0.06</c:v>
                </c:pt>
                <c:pt idx="2">
                  <c:v>-0.05</c:v>
                </c:pt>
                <c:pt idx="3">
                  <c:v>-4.9000000000000002E-2</c:v>
                </c:pt>
                <c:pt idx="4">
                  <c:v>-4.2000000000000003E-2</c:v>
                </c:pt>
                <c:pt idx="5">
                  <c:v>-4.2000000000000003E-2</c:v>
                </c:pt>
                <c:pt idx="6">
                  <c:v>-3.2000000000000001E-2</c:v>
                </c:pt>
                <c:pt idx="7">
                  <c:v>-1.9E-2</c:v>
                </c:pt>
                <c:pt idx="8">
                  <c:v>-1.9E-2</c:v>
                </c:pt>
                <c:pt idx="9">
                  <c:v>-1.2E-2</c:v>
                </c:pt>
                <c:pt idx="10">
                  <c:v>-0.01</c:v>
                </c:pt>
                <c:pt idx="11">
                  <c:v>-8.9999999999999993E-3</c:v>
                </c:pt>
                <c:pt idx="12">
                  <c:v>-8.9999999999999993E-3</c:v>
                </c:pt>
                <c:pt idx="13">
                  <c:v>-5.0000000000000001E-3</c:v>
                </c:pt>
                <c:pt idx="14">
                  <c:v>5.0999999999999997E-2</c:v>
                </c:pt>
              </c:numCache>
            </c:numRef>
          </c:val>
          <c:extLst>
            <c:ext xmlns:c16="http://schemas.microsoft.com/office/drawing/2014/chart" uri="{C3380CC4-5D6E-409C-BE32-E72D297353CC}">
              <c16:uniqueId val="{0000001E-1FAE-41AA-AA74-16B97815AAE3}"/>
            </c:ext>
          </c:extLst>
        </c:ser>
        <c:dLbls>
          <c:dLblPos val="outEnd"/>
          <c:showLegendKey val="0"/>
          <c:showVal val="1"/>
          <c:showCatName val="0"/>
          <c:showSerName val="0"/>
          <c:showPercent val="0"/>
          <c:showBubbleSize val="0"/>
        </c:dLbls>
        <c:gapWidth val="40"/>
        <c:axId val="-2068027336"/>
        <c:axId val="-2113994440"/>
      </c:barChart>
      <c:catAx>
        <c:axId val="-2068027336"/>
        <c:scaling>
          <c:orientation val="maxMin"/>
        </c:scaling>
        <c:delete val="0"/>
        <c:axPos val="l"/>
        <c:numFmt formatCode="General" sourceLinked="0"/>
        <c:majorTickMark val="out"/>
        <c:minorTickMark val="none"/>
        <c:tickLblPos val="low"/>
        <c:spPr>
          <a:ln>
            <a:solidFill>
              <a:srgbClr val="5A6B78"/>
            </a:solidFill>
          </a:ln>
        </c:spPr>
        <c:crossAx val="-2113994440"/>
        <c:crosses val="autoZero"/>
        <c:auto val="1"/>
        <c:lblAlgn val="ctr"/>
        <c:lblOffset val="100"/>
        <c:noMultiLvlLbl val="0"/>
      </c:catAx>
      <c:valAx>
        <c:axId val="-2113994440"/>
        <c:scaling>
          <c:orientation val="minMax"/>
          <c:max val="7.0000000000000007E-2"/>
          <c:min val="-0.1"/>
        </c:scaling>
        <c:delete val="0"/>
        <c:axPos val="t"/>
        <c:majorGridlines>
          <c:spPr>
            <a:ln>
              <a:solidFill>
                <a:srgbClr val="D0D7DC"/>
              </a:solidFill>
            </a:ln>
          </c:spPr>
        </c:majorGridlines>
        <c:numFmt formatCode="0.00" sourceLinked="0"/>
        <c:majorTickMark val="out"/>
        <c:minorTickMark val="none"/>
        <c:tickLblPos val="nextTo"/>
        <c:crossAx val="-2068027336"/>
        <c:crosses val="autoZero"/>
        <c:crossBetween val="between"/>
        <c:majorUnit val="0.05"/>
      </c:valAx>
    </c:plotArea>
    <c:plotVisOnly val="1"/>
    <c:dispBlanksAs val="gap"/>
    <c:showDLblsOverMax val="1"/>
  </c:chart>
  <c:txPr>
    <a:bodyPr/>
    <a:lstStyle/>
    <a:p>
      <a:pPr>
        <a:defRPr sz="18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1"/>
        <c:ser>
          <c:idx val="0"/>
          <c:order val="0"/>
          <c:tx>
            <c:strRef>
              <c:f>Sheet1!$B$1</c:f>
              <c:strCache>
                <c:ptCount val="1"/>
                <c:pt idx="0">
                  <c:v>WUE</c:v>
                </c:pt>
              </c:strCache>
            </c:strRef>
          </c:tx>
          <c:invertIfNegative val="1"/>
          <c:dPt>
            <c:idx val="0"/>
            <c:invertIfNegative val="1"/>
            <c:bubble3D val="0"/>
            <c:spPr>
              <a:solidFill>
                <a:srgbClr val="0A5C66"/>
              </a:solidFill>
            </c:spPr>
            <c:extLst>
              <c:ext xmlns:c16="http://schemas.microsoft.com/office/drawing/2014/chart" uri="{C3380CC4-5D6E-409C-BE32-E72D297353CC}">
                <c16:uniqueId val="{00000001-DCED-4023-9E13-8E99B4D6803A}"/>
              </c:ext>
            </c:extLst>
          </c:dPt>
          <c:dPt>
            <c:idx val="1"/>
            <c:invertIfNegative val="1"/>
            <c:bubble3D val="0"/>
            <c:spPr>
              <a:solidFill>
                <a:srgbClr val="0A5C66"/>
              </a:solidFill>
            </c:spPr>
            <c:extLst>
              <c:ext xmlns:c16="http://schemas.microsoft.com/office/drawing/2014/chart" uri="{C3380CC4-5D6E-409C-BE32-E72D297353CC}">
                <c16:uniqueId val="{00000003-DCED-4023-9E13-8E99B4D6803A}"/>
              </c:ext>
            </c:extLst>
          </c:dPt>
          <c:dPt>
            <c:idx val="2"/>
            <c:invertIfNegative val="1"/>
            <c:bubble3D val="0"/>
            <c:spPr>
              <a:solidFill>
                <a:srgbClr val="0A5C66"/>
              </a:solidFill>
            </c:spPr>
            <c:extLst>
              <c:ext xmlns:c16="http://schemas.microsoft.com/office/drawing/2014/chart" uri="{C3380CC4-5D6E-409C-BE32-E72D297353CC}">
                <c16:uniqueId val="{00000005-DCED-4023-9E13-8E99B4D6803A}"/>
              </c:ext>
            </c:extLst>
          </c:dPt>
          <c:dPt>
            <c:idx val="3"/>
            <c:invertIfNegative val="1"/>
            <c:bubble3D val="0"/>
            <c:spPr>
              <a:solidFill>
                <a:srgbClr val="0A5C66"/>
              </a:solidFill>
            </c:spPr>
            <c:extLst>
              <c:ext xmlns:c16="http://schemas.microsoft.com/office/drawing/2014/chart" uri="{C3380CC4-5D6E-409C-BE32-E72D297353CC}">
                <c16:uniqueId val="{00000007-DCED-4023-9E13-8E99B4D6803A}"/>
              </c:ext>
            </c:extLst>
          </c:dPt>
          <c:dPt>
            <c:idx val="4"/>
            <c:invertIfNegative val="1"/>
            <c:bubble3D val="0"/>
            <c:spPr>
              <a:solidFill>
                <a:srgbClr val="E8A33D"/>
              </a:solidFill>
            </c:spPr>
            <c:extLst>
              <c:ext xmlns:c16="http://schemas.microsoft.com/office/drawing/2014/chart" uri="{C3380CC4-5D6E-409C-BE32-E72D297353CC}">
                <c16:uniqueId val="{00000009-DCED-4023-9E13-8E99B4D6803A}"/>
              </c:ext>
            </c:extLst>
          </c:dPt>
          <c:dLbls>
            <c:numFmt formatCode="0.00" sourceLinked="0"/>
            <c:spPr>
              <a:noFill/>
              <a:ln>
                <a:noFill/>
              </a:ln>
              <a:effectLst/>
            </c:spPr>
            <c:txPr>
              <a:bodyPr/>
              <a:lstStyle/>
              <a:p>
                <a:pPr>
                  <a:defRPr sz="1800"/>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Google 2022</c:v>
                </c:pt>
                <c:pt idx="1">
                  <c:v>Google 2023</c:v>
                </c:pt>
                <c:pt idx="2">
                  <c:v>Google 2024</c:v>
                </c:pt>
                <c:pt idx="3">
                  <c:v>Google 2025</c:v>
                </c:pt>
                <c:pt idx="4">
                  <c:v>EU average 2024</c:v>
                </c:pt>
              </c:strCache>
            </c:strRef>
          </c:cat>
          <c:val>
            <c:numRef>
              <c:f>Sheet1!$B$2:$B$6</c:f>
              <c:numCache>
                <c:formatCode>General</c:formatCode>
                <c:ptCount val="5"/>
                <c:pt idx="0">
                  <c:v>1.054</c:v>
                </c:pt>
                <c:pt idx="1">
                  <c:v>1.0589999999999999</c:v>
                </c:pt>
                <c:pt idx="2">
                  <c:v>1.0489999999999999</c:v>
                </c:pt>
                <c:pt idx="3">
                  <c:v>1.024</c:v>
                </c:pt>
                <c:pt idx="4">
                  <c:v>0.57999999999999996</c:v>
                </c:pt>
              </c:numCache>
            </c:numRef>
          </c:val>
          <c:extLst>
            <c:ext xmlns:c16="http://schemas.microsoft.com/office/drawing/2014/chart" uri="{C3380CC4-5D6E-409C-BE32-E72D297353CC}">
              <c16:uniqueId val="{0000000A-DCED-4023-9E13-8E99B4D6803A}"/>
            </c:ext>
          </c:extLst>
        </c:ser>
        <c:dLbls>
          <c:dLblPos val="outEnd"/>
          <c:showLegendKey val="0"/>
          <c:showVal val="1"/>
          <c:showCatName val="0"/>
          <c:showSerName val="0"/>
          <c:showPercent val="0"/>
          <c:showBubbleSize val="0"/>
        </c:dLbls>
        <c:gapWidth val="50"/>
        <c:axId val="-2068027336"/>
        <c:axId val="-2113994440"/>
      </c:barChart>
      <c:catAx>
        <c:axId val="-2068027336"/>
        <c:scaling>
          <c:orientation val="minMax"/>
        </c:scaling>
        <c:delete val="0"/>
        <c:axPos val="b"/>
        <c:numFmt formatCode="General" sourceLinked="0"/>
        <c:majorTickMark val="out"/>
        <c:minorTickMark val="none"/>
        <c:tickLblPos val="nextTo"/>
        <c:crossAx val="-2113994440"/>
        <c:crosses val="autoZero"/>
        <c:auto val="1"/>
        <c:lblAlgn val="ctr"/>
        <c:lblOffset val="100"/>
        <c:noMultiLvlLbl val="0"/>
      </c:catAx>
      <c:valAx>
        <c:axId val="-2113994440"/>
        <c:scaling>
          <c:orientation val="minMax"/>
          <c:max val="1.4"/>
          <c:min val="0"/>
        </c:scaling>
        <c:delete val="0"/>
        <c:axPos val="l"/>
        <c:majorGridlines>
          <c:spPr>
            <a:ln>
              <a:solidFill>
                <a:srgbClr val="D0D7DC"/>
              </a:solidFill>
            </a:ln>
          </c:spPr>
        </c:majorGridlines>
        <c:title>
          <c:tx>
            <c:rich>
              <a:bodyPr/>
              <a:lstStyle/>
              <a:p>
                <a:r>
                  <a:rPr lang="en-US" sz="1800" b="0"/>
                  <a:t>L per IT kWh</a:t>
                </a:r>
              </a:p>
            </c:rich>
          </c:tx>
          <c:overlay val="0"/>
        </c:title>
        <c:numFmt formatCode="0.0" sourceLinked="0"/>
        <c:majorTickMark val="out"/>
        <c:minorTickMark val="none"/>
        <c:tickLblPos val="nextTo"/>
        <c:crossAx val="-2068027336"/>
        <c:crosses val="autoZero"/>
        <c:crossBetween val="between"/>
        <c:majorUnit val="0.35"/>
      </c:valAx>
    </c:plotArea>
    <c:plotVisOnly val="1"/>
    <c:dispBlanksAs val="gap"/>
    <c:showDLblsOverMax val="1"/>
  </c:chart>
  <c:txPr>
    <a:bodyPr/>
    <a:lstStyle/>
    <a:p>
      <a:pPr>
        <a:defRPr sz="1800">
          <a:latin typeface="Arial"/>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E5BDA8A9-A8C9-F446-B237-9BE9BF31C453}" type="datetimeFigureOut">
              <a:rPr lang="en-US" smtClean="0"/>
              <a:t>10/29/2026</a:t>
            </a:fld>
            <a:endParaRPr lang="en-US"/>
          </a:p>
        </p:txBody>
      </p:sp>
      <p:sp>
        <p:nvSpPr>
          <p:cNvPr id="4" name="Slide Image Placeholder 3"/>
          <p:cNvSpPr>
            <a:spLocks noGrp="1" noRot="1" noChangeAspect="1"/>
          </p:cNvSpPr>
          <p:nvPr>
            <p:ph type="sldImg" idx="2"/>
          </p:nvPr>
        </p:nvSpPr>
        <p:spPr>
          <a:xfrm>
            <a:off x="2216150" y="685800"/>
            <a:ext cx="24257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4318B5E-C62C-2544-8E88-2A86596A3107}" type="slidenum">
              <a:rPr lang="en-US" smtClean="0"/>
              <a:t>‹#›</a:t>
            </a:fld>
            <a:endParaRPr lang="en-US"/>
          </a:p>
        </p:txBody>
      </p:sp>
    </p:spTree>
    <p:extLst>
      <p:ext uri="{BB962C8B-B14F-4D97-AF65-F5344CB8AC3E}">
        <p14:creationId xmlns:p14="http://schemas.microsoft.com/office/powerpoint/2010/main" val="586687778"/>
      </p:ext>
    </p:extLst>
  </p:cSld>
  <p:clrMap bg1="lt1" tx1="dk1" bg2="lt2" tx2="dk2" accent1="accent1" accent2="accent2" accent3="accent3" accent4="accent4" accent5="accent5" accent6="accent6" hlink="hlink" folHlink="folHlink"/>
  <p:notesStyle>
    <a:lvl1pPr marL="0" algn="l" defTabSz="1475293" rtl="0" eaLnBrk="1" latinLnBrk="0" hangingPunct="1">
      <a:defRPr sz="3900" kern="1200">
        <a:solidFill>
          <a:schemeClr val="tx1"/>
        </a:solidFill>
        <a:latin typeface="+mn-lt"/>
        <a:ea typeface="+mn-ea"/>
        <a:cs typeface="+mn-cs"/>
      </a:defRPr>
    </a:lvl1pPr>
    <a:lvl2pPr marL="1475293" algn="l" defTabSz="1475293" rtl="0" eaLnBrk="1" latinLnBrk="0" hangingPunct="1">
      <a:defRPr sz="3900" kern="1200">
        <a:solidFill>
          <a:schemeClr val="tx1"/>
        </a:solidFill>
        <a:latin typeface="+mn-lt"/>
        <a:ea typeface="+mn-ea"/>
        <a:cs typeface="+mn-cs"/>
      </a:defRPr>
    </a:lvl2pPr>
    <a:lvl3pPr marL="2950586" algn="l" defTabSz="1475293" rtl="0" eaLnBrk="1" latinLnBrk="0" hangingPunct="1">
      <a:defRPr sz="3900" kern="1200">
        <a:solidFill>
          <a:schemeClr val="tx1"/>
        </a:solidFill>
        <a:latin typeface="+mn-lt"/>
        <a:ea typeface="+mn-ea"/>
        <a:cs typeface="+mn-cs"/>
      </a:defRPr>
    </a:lvl3pPr>
    <a:lvl4pPr marL="4425879" algn="l" defTabSz="1475293" rtl="0" eaLnBrk="1" latinLnBrk="0" hangingPunct="1">
      <a:defRPr sz="3900" kern="1200">
        <a:solidFill>
          <a:schemeClr val="tx1"/>
        </a:solidFill>
        <a:latin typeface="+mn-lt"/>
        <a:ea typeface="+mn-ea"/>
        <a:cs typeface="+mn-cs"/>
      </a:defRPr>
    </a:lvl4pPr>
    <a:lvl5pPr marL="5901172" algn="l" defTabSz="1475293" rtl="0" eaLnBrk="1" latinLnBrk="0" hangingPunct="1">
      <a:defRPr sz="3900" kern="1200">
        <a:solidFill>
          <a:schemeClr val="tx1"/>
        </a:solidFill>
        <a:latin typeface="+mn-lt"/>
        <a:ea typeface="+mn-ea"/>
        <a:cs typeface="+mn-cs"/>
      </a:defRPr>
    </a:lvl5pPr>
    <a:lvl6pPr marL="7376465" algn="l" defTabSz="1475293" rtl="0" eaLnBrk="1" latinLnBrk="0" hangingPunct="1">
      <a:defRPr sz="3900" kern="1200">
        <a:solidFill>
          <a:schemeClr val="tx1"/>
        </a:solidFill>
        <a:latin typeface="+mn-lt"/>
        <a:ea typeface="+mn-ea"/>
        <a:cs typeface="+mn-cs"/>
      </a:defRPr>
    </a:lvl6pPr>
    <a:lvl7pPr marL="8851758" algn="l" defTabSz="1475293" rtl="0" eaLnBrk="1" latinLnBrk="0" hangingPunct="1">
      <a:defRPr sz="3900" kern="1200">
        <a:solidFill>
          <a:schemeClr val="tx1"/>
        </a:solidFill>
        <a:latin typeface="+mn-lt"/>
        <a:ea typeface="+mn-ea"/>
        <a:cs typeface="+mn-cs"/>
      </a:defRPr>
    </a:lvl7pPr>
    <a:lvl8pPr marL="10327051" algn="l" defTabSz="1475293" rtl="0" eaLnBrk="1" latinLnBrk="0" hangingPunct="1">
      <a:defRPr sz="3900" kern="1200">
        <a:solidFill>
          <a:schemeClr val="tx1"/>
        </a:solidFill>
        <a:latin typeface="+mn-lt"/>
        <a:ea typeface="+mn-ea"/>
        <a:cs typeface="+mn-cs"/>
      </a:defRPr>
    </a:lvl8pPr>
    <a:lvl9pPr marL="11802344" algn="l" defTabSz="1475293" rtl="0" eaLnBrk="1" latinLnBrk="0" hangingPunct="1">
      <a:defRPr sz="39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oster">
    <p:spTree>
      <p:nvGrpSpPr>
        <p:cNvPr id="1" name=""/>
        <p:cNvGrpSpPr/>
        <p:nvPr/>
      </p:nvGrpSpPr>
      <p:grpSpPr>
        <a:xfrm>
          <a:off x="0" y="0"/>
          <a:ext cx="0" cy="0"/>
          <a:chOff x="0" y="0"/>
          <a:chExt cx="0" cy="0"/>
        </a:xfrm>
      </p:grpSpPr>
      <p:sp>
        <p:nvSpPr>
          <p:cNvPr id="2" name="Title 1"/>
          <p:cNvSpPr>
            <a:spLocks noGrp="1"/>
          </p:cNvSpPr>
          <p:nvPr>
            <p:ph type="title"/>
          </p:nvPr>
        </p:nvSpPr>
        <p:spPr>
          <a:xfrm>
            <a:off x="864000" y="864001"/>
            <a:ext cx="14400000" cy="1440000"/>
          </a:xfrm>
        </p:spPr>
        <p:txBody>
          <a:bodyPr/>
          <a:lstStyle/>
          <a:p>
            <a:r>
              <a:rPr lang="en-GB" dirty="0"/>
              <a:t>Click to edit Master title style</a:t>
            </a:r>
            <a:endParaRPr lang="en-US" dirty="0"/>
          </a:p>
        </p:txBody>
      </p:sp>
      <p:sp>
        <p:nvSpPr>
          <p:cNvPr id="5" name="Rectangle 4"/>
          <p:cNvSpPr/>
          <p:nvPr userDrawn="1"/>
        </p:nvSpPr>
        <p:spPr>
          <a:xfrm>
            <a:off x="216000" y="4176000"/>
            <a:ext cx="20952000" cy="25848000"/>
          </a:xfrm>
          <a:prstGeom prst="rect">
            <a:avLst/>
          </a:prstGeom>
          <a:solidFill>
            <a:schemeClr val="bg2">
              <a:alpha val="50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Content Placeholder 3"/>
          <p:cNvSpPr>
            <a:spLocks noGrp="1"/>
          </p:cNvSpPr>
          <p:nvPr>
            <p:ph sz="quarter" idx="10"/>
          </p:nvPr>
        </p:nvSpPr>
        <p:spPr>
          <a:xfrm>
            <a:off x="863600" y="15086634"/>
            <a:ext cx="19658634" cy="14289366"/>
          </a:xfrm>
        </p:spPr>
        <p:txBody>
          <a:bodyPr spcCol="720000">
            <a:normAutofit/>
          </a:bodyPr>
          <a:lstStyle>
            <a:lvl1pPr>
              <a:lnSpc>
                <a:spcPts val="2600"/>
              </a:lnSpc>
              <a:defRPr sz="2200"/>
            </a:lvl1pPr>
            <a:lvl2pPr>
              <a:lnSpc>
                <a:spcPts val="2600"/>
              </a:lnSpc>
              <a:spcAft>
                <a:spcPts val="1300"/>
              </a:spcAft>
              <a:defRPr sz="2200"/>
            </a:lvl2pPr>
            <a:lvl3pPr>
              <a:lnSpc>
                <a:spcPts val="2600"/>
              </a:lnSpc>
              <a:spcAft>
                <a:spcPts val="1300"/>
              </a:spcAft>
              <a:defRPr sz="2200"/>
            </a:lvl3pPr>
            <a:lvl4pPr>
              <a:lnSpc>
                <a:spcPts val="2600"/>
              </a:lnSpc>
              <a:spcAft>
                <a:spcPts val="1300"/>
              </a:spcAft>
              <a:defRPr sz="2200"/>
            </a:lvl4pPr>
            <a:lvl5pPr>
              <a:lnSpc>
                <a:spcPts val="2600"/>
              </a:lnSpc>
              <a:spcAft>
                <a:spcPts val="1300"/>
              </a:spcAft>
              <a:defRPr sz="2200"/>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7" name="Content Placeholder 6"/>
          <p:cNvSpPr>
            <a:spLocks noGrp="1"/>
          </p:cNvSpPr>
          <p:nvPr>
            <p:ph sz="quarter" idx="11"/>
          </p:nvPr>
        </p:nvSpPr>
        <p:spPr>
          <a:xfrm>
            <a:off x="863600" y="4896000"/>
            <a:ext cx="9468000" cy="9468000"/>
          </a:xfrm>
        </p:spPr>
        <p:txBody>
          <a:bodyPr numCol="1"/>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9" name="Content Placeholder 6"/>
          <p:cNvSpPr>
            <a:spLocks noGrp="1"/>
          </p:cNvSpPr>
          <p:nvPr>
            <p:ph sz="quarter" idx="12"/>
          </p:nvPr>
        </p:nvSpPr>
        <p:spPr>
          <a:xfrm>
            <a:off x="11054234" y="4896000"/>
            <a:ext cx="9468000" cy="9468000"/>
          </a:xfrm>
        </p:spPr>
        <p:txBody>
          <a:bodyPr numCol="1"/>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6" name="Content Placeholder 5"/>
          <p:cNvSpPr>
            <a:spLocks noGrp="1"/>
          </p:cNvSpPr>
          <p:nvPr>
            <p:ph sz="quarter" idx="13"/>
          </p:nvPr>
        </p:nvSpPr>
        <p:spPr>
          <a:xfrm>
            <a:off x="863600" y="2600324"/>
            <a:ext cx="14400213" cy="1359675"/>
          </a:xfrm>
        </p:spPr>
        <p:txBody>
          <a:bodyPr numCol="1"/>
          <a:lstStyle>
            <a:lvl1pPr>
              <a:lnSpc>
                <a:spcPct val="110000"/>
              </a:lnSpc>
              <a:defRPr sz="3600">
                <a:solidFill>
                  <a:srgbClr val="0A2D50"/>
                </a:solidFill>
              </a:defRPr>
            </a:lvl1pPr>
            <a:lvl2pPr>
              <a:lnSpc>
                <a:spcPct val="110000"/>
              </a:lnSpc>
              <a:defRPr sz="3500" b="0" i="0">
                <a:solidFill>
                  <a:srgbClr val="0A2D50"/>
                </a:solidFill>
                <a:latin typeface="Arial"/>
                <a:cs typeface="Arial"/>
              </a:defRPr>
            </a:lvl2pPr>
            <a:lvl3pPr>
              <a:lnSpc>
                <a:spcPct val="110000"/>
              </a:lnSpc>
              <a:defRPr>
                <a:solidFill>
                  <a:srgbClr val="0A2D50"/>
                </a:solidFill>
              </a:defRPr>
            </a:lvl3pPr>
            <a:lvl4pPr>
              <a:lnSpc>
                <a:spcPct val="110000"/>
              </a:lnSpc>
              <a:defRPr>
                <a:solidFill>
                  <a:srgbClr val="0A2D50"/>
                </a:solidFill>
              </a:defRPr>
            </a:lvl4pPr>
            <a:lvl5pPr>
              <a:lnSpc>
                <a:spcPct val="110000"/>
              </a:lnSpc>
              <a:defRPr>
                <a:solidFill>
                  <a:srgbClr val="0A2D50"/>
                </a:solidFill>
              </a:defRPr>
            </a:lvl5p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1" name="Content Placeholder 6"/>
          <p:cNvSpPr>
            <a:spLocks noGrp="1"/>
          </p:cNvSpPr>
          <p:nvPr>
            <p:ph sz="quarter" idx="14"/>
          </p:nvPr>
        </p:nvSpPr>
        <p:spPr>
          <a:xfrm>
            <a:off x="16094722" y="24947926"/>
            <a:ext cx="4427513" cy="4428000"/>
          </a:xfrm>
        </p:spPr>
        <p:txBody>
          <a:bodyPr numCol="1"/>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
        <p:nvSpPr>
          <p:cNvPr id="14" name="Content Placeholder 6"/>
          <p:cNvSpPr>
            <a:spLocks noGrp="1"/>
          </p:cNvSpPr>
          <p:nvPr>
            <p:ph sz="quarter" idx="15"/>
          </p:nvPr>
        </p:nvSpPr>
        <p:spPr>
          <a:xfrm>
            <a:off x="11018194" y="24947927"/>
            <a:ext cx="4430095" cy="4428000"/>
          </a:xfrm>
        </p:spPr>
        <p:txBody>
          <a:bodyPr numCol="1"/>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260503787"/>
      </p:ext>
    </p:extLst>
  </p:cSld>
  <p:clrMapOvr>
    <a:masterClrMapping/>
  </p:clrMapOvr>
  <p:transition>
    <p:fade/>
  </p:transition>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64000" y="864001"/>
            <a:ext cx="15066000" cy="3312000"/>
          </a:xfrm>
          <a:prstGeom prst="rect">
            <a:avLst/>
          </a:prstGeom>
        </p:spPr>
        <p:txBody>
          <a:bodyPr vert="horz" lIns="0" tIns="0" rIns="0" bIns="0" rtlCol="0" anchor="t" anchorCtr="0">
            <a:normAutofit/>
          </a:bodyPr>
          <a:lstStyle/>
          <a:p>
            <a:r>
              <a:rPr lang="en-GB" dirty="0"/>
              <a:t>Click to edit Master title style</a:t>
            </a:r>
            <a:endParaRPr lang="en-US" dirty="0"/>
          </a:p>
        </p:txBody>
      </p:sp>
      <p:sp>
        <p:nvSpPr>
          <p:cNvPr id="3" name="Text Placeholder 2"/>
          <p:cNvSpPr>
            <a:spLocks noGrp="1"/>
          </p:cNvSpPr>
          <p:nvPr>
            <p:ph type="body" idx="1"/>
          </p:nvPr>
        </p:nvSpPr>
        <p:spPr>
          <a:xfrm>
            <a:off x="936000" y="4896000"/>
            <a:ext cx="19512000" cy="24408000"/>
          </a:xfrm>
          <a:prstGeom prst="rect">
            <a:avLst/>
          </a:prstGeom>
        </p:spPr>
        <p:txBody>
          <a:bodyPr vert="horz" lIns="0" tIns="0" rIns="0" bIns="0" numCol="4" spcCol="360000" rtlCol="0">
            <a:normAutofit/>
          </a:bodyPr>
          <a:lstStyle/>
          <a:p>
            <a:pPr lvl="0"/>
            <a:r>
              <a:rPr lang="en-GB" dirty="0"/>
              <a:t>Click to edit Master text styles</a:t>
            </a:r>
          </a:p>
          <a:p>
            <a:pPr lvl="1"/>
            <a:r>
              <a:rPr lang="en-GB" dirty="0"/>
              <a:t>Second level</a:t>
            </a:r>
          </a:p>
          <a:p>
            <a:pPr lvl="2"/>
            <a:r>
              <a:rPr lang="en-GB" dirty="0"/>
              <a:t>Third level</a:t>
            </a:r>
          </a:p>
          <a:p>
            <a:pPr lvl="3"/>
            <a:r>
              <a:rPr lang="en-GB" dirty="0"/>
              <a:t>Fourth level</a:t>
            </a:r>
          </a:p>
          <a:p>
            <a:pPr lvl="4"/>
            <a:r>
              <a:rPr lang="en-GB" dirty="0"/>
              <a:t>Fifth level</a:t>
            </a:r>
            <a:endParaRPr lang="en-US" dirty="0"/>
          </a:p>
        </p:txBody>
      </p:sp>
    </p:spTree>
    <p:extLst>
      <p:ext uri="{BB962C8B-B14F-4D97-AF65-F5344CB8AC3E}">
        <p14:creationId xmlns:p14="http://schemas.microsoft.com/office/powerpoint/2010/main" val="2760339100"/>
      </p:ext>
    </p:extLst>
  </p:cSld>
  <p:clrMap bg1="lt1" tx1="dk1" bg2="lt2" tx2="dk2" accent1="accent1" accent2="accent2" accent3="accent3" accent4="accent4" accent5="accent5" accent6="accent6" hlink="hlink" folHlink="folHlink"/>
  <p:sldLayoutIdLst>
    <p:sldLayoutId id="2147483663" r:id="rId1"/>
  </p:sldLayoutIdLst>
  <p:transition>
    <p:fade/>
  </p:transition>
  <p:txStyles>
    <p:titleStyle>
      <a:lvl1pPr algn="l" defTabSz="1475293" rtl="0" eaLnBrk="1" latinLnBrk="0" hangingPunct="1">
        <a:spcBef>
          <a:spcPct val="0"/>
        </a:spcBef>
        <a:buNone/>
        <a:defRPr sz="8000" kern="1200">
          <a:solidFill>
            <a:srgbClr val="0A2D50"/>
          </a:solidFill>
          <a:latin typeface="Arial"/>
          <a:ea typeface="+mj-ea"/>
          <a:cs typeface="Arial"/>
        </a:defRPr>
      </a:lvl1pPr>
    </p:titleStyle>
    <p:bodyStyle>
      <a:lvl1pPr marL="0" indent="0" algn="l" defTabSz="1475293" rtl="0" eaLnBrk="1" latinLnBrk="0" hangingPunct="1">
        <a:lnSpc>
          <a:spcPts val="2600"/>
        </a:lnSpc>
        <a:spcBef>
          <a:spcPts val="0"/>
        </a:spcBef>
        <a:spcAft>
          <a:spcPts val="0"/>
        </a:spcAft>
        <a:buClr>
          <a:srgbClr val="0A2D50"/>
        </a:buClr>
        <a:buFont typeface="Arial"/>
        <a:buNone/>
        <a:defRPr sz="2200" kern="1200">
          <a:solidFill>
            <a:schemeClr val="tx1"/>
          </a:solidFill>
          <a:latin typeface="Arial"/>
          <a:ea typeface="+mn-ea"/>
          <a:cs typeface="Arial"/>
        </a:defRPr>
      </a:lvl1pPr>
      <a:lvl2pPr marL="0" indent="0" algn="l" defTabSz="1475293" rtl="0" eaLnBrk="1" latinLnBrk="0" hangingPunct="1">
        <a:lnSpc>
          <a:spcPts val="2600"/>
        </a:lnSpc>
        <a:spcBef>
          <a:spcPts val="0"/>
        </a:spcBef>
        <a:spcAft>
          <a:spcPts val="1300"/>
        </a:spcAft>
        <a:buClr>
          <a:srgbClr val="0A2D50"/>
        </a:buClr>
        <a:buFont typeface="Arial"/>
        <a:buNone/>
        <a:defRPr sz="2200" b="0" i="0" kern="1200">
          <a:solidFill>
            <a:schemeClr val="tx1"/>
          </a:solidFill>
          <a:latin typeface="Arial"/>
          <a:ea typeface="+mn-ea"/>
          <a:cs typeface="Arial"/>
        </a:defRPr>
      </a:lvl2pPr>
      <a:lvl3pPr marL="355600" indent="-355600" algn="l" defTabSz="1475293" rtl="0" eaLnBrk="1" latinLnBrk="0" hangingPunct="1">
        <a:lnSpc>
          <a:spcPts val="2600"/>
        </a:lnSpc>
        <a:spcBef>
          <a:spcPts val="0"/>
        </a:spcBef>
        <a:spcAft>
          <a:spcPts val="1300"/>
        </a:spcAft>
        <a:buClr>
          <a:srgbClr val="0A2D50"/>
        </a:buClr>
        <a:buFont typeface="Arial"/>
        <a:buChar char="•"/>
        <a:defRPr sz="2200" b="0" i="0" kern="1200">
          <a:solidFill>
            <a:schemeClr val="tx1"/>
          </a:solidFill>
          <a:latin typeface="Arial"/>
          <a:ea typeface="+mn-ea"/>
          <a:cs typeface="Arial"/>
        </a:defRPr>
      </a:lvl3pPr>
      <a:lvl4pPr marL="723900" indent="-368300" algn="l" defTabSz="1475293" rtl="0" eaLnBrk="1" latinLnBrk="0" hangingPunct="1">
        <a:lnSpc>
          <a:spcPts val="2600"/>
        </a:lnSpc>
        <a:spcBef>
          <a:spcPts val="0"/>
        </a:spcBef>
        <a:spcAft>
          <a:spcPts val="1300"/>
        </a:spcAft>
        <a:buClr>
          <a:srgbClr val="0A2D50"/>
        </a:buClr>
        <a:buFont typeface="Arial"/>
        <a:buChar char="•"/>
        <a:defRPr sz="2200" b="0" i="0" kern="1200">
          <a:solidFill>
            <a:schemeClr val="tx1"/>
          </a:solidFill>
          <a:latin typeface="Arial"/>
          <a:ea typeface="+mn-ea"/>
          <a:cs typeface="Arial"/>
        </a:defRPr>
      </a:lvl4pPr>
      <a:lvl5pPr marL="1079500" indent="-355600" algn="l" defTabSz="1475293" rtl="0" eaLnBrk="1" latinLnBrk="0" hangingPunct="1">
        <a:lnSpc>
          <a:spcPts val="2600"/>
        </a:lnSpc>
        <a:spcBef>
          <a:spcPts val="0"/>
        </a:spcBef>
        <a:spcAft>
          <a:spcPts val="1300"/>
        </a:spcAft>
        <a:buClr>
          <a:srgbClr val="0A2D50"/>
        </a:buClr>
        <a:buFont typeface="Arial"/>
        <a:buChar char="•"/>
        <a:defRPr sz="2200" b="0" i="0" kern="1200">
          <a:solidFill>
            <a:schemeClr val="tx1"/>
          </a:solidFill>
          <a:latin typeface="Arial"/>
          <a:ea typeface="+mn-ea"/>
          <a:cs typeface="Arial"/>
        </a:defRPr>
      </a:lvl5pPr>
      <a:lvl6pPr marL="8114111" indent="-737646" algn="l" defTabSz="1475293" rtl="0" eaLnBrk="1" latinLnBrk="0" hangingPunct="1">
        <a:spcBef>
          <a:spcPct val="20000"/>
        </a:spcBef>
        <a:buFont typeface="Arial"/>
        <a:buChar char="•"/>
        <a:defRPr sz="6500" kern="1200">
          <a:solidFill>
            <a:schemeClr val="tx1"/>
          </a:solidFill>
          <a:latin typeface="+mn-lt"/>
          <a:ea typeface="+mn-ea"/>
          <a:cs typeface="+mn-cs"/>
        </a:defRPr>
      </a:lvl6pPr>
      <a:lvl7pPr marL="9589404" indent="-737646" algn="l" defTabSz="1475293" rtl="0" eaLnBrk="1" latinLnBrk="0" hangingPunct="1">
        <a:spcBef>
          <a:spcPct val="20000"/>
        </a:spcBef>
        <a:buFont typeface="Arial"/>
        <a:buChar char="•"/>
        <a:defRPr sz="6500" kern="1200">
          <a:solidFill>
            <a:schemeClr val="tx1"/>
          </a:solidFill>
          <a:latin typeface="+mn-lt"/>
          <a:ea typeface="+mn-ea"/>
          <a:cs typeface="+mn-cs"/>
        </a:defRPr>
      </a:lvl7pPr>
      <a:lvl8pPr marL="11064697" indent="-737646" algn="l" defTabSz="1475293" rtl="0" eaLnBrk="1" latinLnBrk="0" hangingPunct="1">
        <a:spcBef>
          <a:spcPct val="20000"/>
        </a:spcBef>
        <a:buFont typeface="Arial"/>
        <a:buChar char="•"/>
        <a:defRPr sz="6500" kern="1200">
          <a:solidFill>
            <a:schemeClr val="tx1"/>
          </a:solidFill>
          <a:latin typeface="+mn-lt"/>
          <a:ea typeface="+mn-ea"/>
          <a:cs typeface="+mn-cs"/>
        </a:defRPr>
      </a:lvl8pPr>
      <a:lvl9pPr marL="12539990" indent="-737646" algn="l" defTabSz="1475293" rtl="0" eaLnBrk="1" latinLnBrk="0" hangingPunct="1">
        <a:spcBef>
          <a:spcPct val="20000"/>
        </a:spcBef>
        <a:buFont typeface="Arial"/>
        <a:buChar char="•"/>
        <a:defRPr sz="6500" kern="1200">
          <a:solidFill>
            <a:schemeClr val="tx1"/>
          </a:solidFill>
          <a:latin typeface="+mn-lt"/>
          <a:ea typeface="+mn-ea"/>
          <a:cs typeface="+mn-cs"/>
        </a:defRPr>
      </a:lvl9pPr>
    </p:bodyStyle>
    <p:otherStyle>
      <a:defPPr>
        <a:defRPr lang="en-US"/>
      </a:defPPr>
      <a:lvl1pPr marL="0" algn="l" defTabSz="1475293" rtl="0" eaLnBrk="1" latinLnBrk="0" hangingPunct="1">
        <a:defRPr sz="5800" kern="1200">
          <a:solidFill>
            <a:schemeClr val="tx1"/>
          </a:solidFill>
          <a:latin typeface="+mn-lt"/>
          <a:ea typeface="+mn-ea"/>
          <a:cs typeface="+mn-cs"/>
        </a:defRPr>
      </a:lvl1pPr>
      <a:lvl2pPr marL="1475293" algn="l" defTabSz="1475293" rtl="0" eaLnBrk="1" latinLnBrk="0" hangingPunct="1">
        <a:defRPr sz="5800" kern="1200">
          <a:solidFill>
            <a:schemeClr val="tx1"/>
          </a:solidFill>
          <a:latin typeface="+mn-lt"/>
          <a:ea typeface="+mn-ea"/>
          <a:cs typeface="+mn-cs"/>
        </a:defRPr>
      </a:lvl2pPr>
      <a:lvl3pPr marL="2950586" algn="l" defTabSz="1475293" rtl="0" eaLnBrk="1" latinLnBrk="0" hangingPunct="1">
        <a:defRPr sz="5800" kern="1200">
          <a:solidFill>
            <a:schemeClr val="tx1"/>
          </a:solidFill>
          <a:latin typeface="+mn-lt"/>
          <a:ea typeface="+mn-ea"/>
          <a:cs typeface="+mn-cs"/>
        </a:defRPr>
      </a:lvl3pPr>
      <a:lvl4pPr marL="4425879" algn="l" defTabSz="1475293" rtl="0" eaLnBrk="1" latinLnBrk="0" hangingPunct="1">
        <a:defRPr sz="5800" kern="1200">
          <a:solidFill>
            <a:schemeClr val="tx1"/>
          </a:solidFill>
          <a:latin typeface="+mn-lt"/>
          <a:ea typeface="+mn-ea"/>
          <a:cs typeface="+mn-cs"/>
        </a:defRPr>
      </a:lvl4pPr>
      <a:lvl5pPr marL="5901172" algn="l" defTabSz="1475293" rtl="0" eaLnBrk="1" latinLnBrk="0" hangingPunct="1">
        <a:defRPr sz="5800" kern="1200">
          <a:solidFill>
            <a:schemeClr val="tx1"/>
          </a:solidFill>
          <a:latin typeface="+mn-lt"/>
          <a:ea typeface="+mn-ea"/>
          <a:cs typeface="+mn-cs"/>
        </a:defRPr>
      </a:lvl5pPr>
      <a:lvl6pPr marL="7376465" algn="l" defTabSz="1475293" rtl="0" eaLnBrk="1" latinLnBrk="0" hangingPunct="1">
        <a:defRPr sz="5800" kern="1200">
          <a:solidFill>
            <a:schemeClr val="tx1"/>
          </a:solidFill>
          <a:latin typeface="+mn-lt"/>
          <a:ea typeface="+mn-ea"/>
          <a:cs typeface="+mn-cs"/>
        </a:defRPr>
      </a:lvl6pPr>
      <a:lvl7pPr marL="8851758" algn="l" defTabSz="1475293" rtl="0" eaLnBrk="1" latinLnBrk="0" hangingPunct="1">
        <a:defRPr sz="5800" kern="1200">
          <a:solidFill>
            <a:schemeClr val="tx1"/>
          </a:solidFill>
          <a:latin typeface="+mn-lt"/>
          <a:ea typeface="+mn-ea"/>
          <a:cs typeface="+mn-cs"/>
        </a:defRPr>
      </a:lvl7pPr>
      <a:lvl8pPr marL="10327051" algn="l" defTabSz="1475293" rtl="0" eaLnBrk="1" latinLnBrk="0" hangingPunct="1">
        <a:defRPr sz="5800" kern="1200">
          <a:solidFill>
            <a:schemeClr val="tx1"/>
          </a:solidFill>
          <a:latin typeface="+mn-lt"/>
          <a:ea typeface="+mn-ea"/>
          <a:cs typeface="+mn-cs"/>
        </a:defRPr>
      </a:lvl8pPr>
      <a:lvl9pPr marL="11802344" algn="l" defTabSz="1475293" rtl="0" eaLnBrk="1" latinLnBrk="0" hangingPunct="1">
        <a:defRPr sz="5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chart" Target="../charts/chart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alpha val="50000"/>
          </a:schemeClr>
        </a:solidFill>
        <a:effectLst/>
      </p:bgPr>
    </p:b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9FF826E4-9216-80B0-9207-51A2660E9074}"/>
              </a:ext>
            </a:extLst>
          </p:cNvPr>
          <p:cNvSpPr/>
          <p:nvPr/>
        </p:nvSpPr>
        <p:spPr>
          <a:xfrm>
            <a:off x="-138023" y="-171888"/>
            <a:ext cx="21773072" cy="4649625"/>
          </a:xfrm>
          <a:prstGeom prst="rect">
            <a:avLst/>
          </a:prstGeom>
          <a:solidFill>
            <a:schemeClr val="tx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CH"/>
          </a:p>
        </p:txBody>
      </p:sp>
      <p:sp>
        <p:nvSpPr>
          <p:cNvPr id="2" name="Title 1"/>
          <p:cNvSpPr>
            <a:spLocks noGrp="1"/>
          </p:cNvSpPr>
          <p:nvPr>
            <p:ph type="title"/>
          </p:nvPr>
        </p:nvSpPr>
        <p:spPr>
          <a:xfrm>
            <a:off x="859536" y="502920"/>
            <a:ext cx="14813280" cy="2926080"/>
          </a:xfrm>
        </p:spPr>
        <p:txBody>
          <a:bodyPr wrap="square"/>
          <a:lstStyle/>
          <a:p>
            <a:pPr>
              <a:lnSpc>
                <a:spcPct val="95000"/>
              </a:lnSpc>
            </a:pPr>
            <a:r>
              <a:rPr sz="6000" b="1" i="0" dirty="0">
                <a:solidFill>
                  <a:schemeClr val="bg1"/>
                </a:solidFill>
                <a:latin typeface="Arial"/>
              </a:rPr>
              <a:t>Data </a:t>
            </a:r>
            <a:r>
              <a:rPr sz="6000" b="1" i="0" dirty="0" err="1">
                <a:solidFill>
                  <a:schemeClr val="bg1"/>
                </a:solidFill>
                <a:latin typeface="Arial"/>
              </a:rPr>
              <a:t>centre</a:t>
            </a:r>
            <a:r>
              <a:rPr sz="6000" b="1" i="0" dirty="0">
                <a:solidFill>
                  <a:schemeClr val="bg1"/>
                </a:solidFill>
                <a:latin typeface="Arial"/>
              </a:rPr>
              <a:t> water and energy: do published models match what Google reports?</a:t>
            </a:r>
          </a:p>
        </p:txBody>
      </p:sp>
      <p:sp>
        <p:nvSpPr>
          <p:cNvPr id="6" name="Content Placeholder 5"/>
          <p:cNvSpPr>
            <a:spLocks noGrp="1"/>
          </p:cNvSpPr>
          <p:nvPr>
            <p:ph sz="quarter" idx="13"/>
          </p:nvPr>
        </p:nvSpPr>
        <p:spPr>
          <a:xfrm>
            <a:off x="859536" y="3272790"/>
            <a:ext cx="14813280" cy="1280160"/>
          </a:xfrm>
        </p:spPr>
        <p:txBody>
          <a:bodyPr wrap="square"/>
          <a:lstStyle/>
          <a:p>
            <a:r>
              <a:rPr sz="2800" b="1" i="0" dirty="0">
                <a:solidFill>
                  <a:schemeClr val="bg1"/>
                </a:solidFill>
                <a:latin typeface="Arial"/>
              </a:rPr>
              <a:t>Pablo Meijer</a:t>
            </a:r>
          </a:p>
        </p:txBody>
      </p:sp>
      <p:sp>
        <p:nvSpPr>
          <p:cNvPr id="7" name="Rectangle 6"/>
          <p:cNvSpPr/>
          <p:nvPr/>
        </p:nvSpPr>
        <p:spPr>
          <a:xfrm>
            <a:off x="859536" y="4477738"/>
            <a:ext cx="9509760" cy="297154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1225295" y="4554916"/>
            <a:ext cx="8778240" cy="523220"/>
          </a:xfrm>
          <a:prstGeom prst="rect">
            <a:avLst/>
          </a:prstGeom>
          <a:noFill/>
        </p:spPr>
        <p:txBody>
          <a:bodyPr wrap="square" lIns="0" tIns="0" rIns="0" bIns="0">
            <a:spAutoFit/>
          </a:bodyPr>
          <a:lstStyle/>
          <a:p>
            <a:pPr>
              <a:spcAft>
                <a:spcPts val="800"/>
              </a:spcAft>
            </a:pPr>
            <a:r>
              <a:rPr sz="3600" b="1" i="0" dirty="0">
                <a:latin typeface="Arial"/>
              </a:rPr>
              <a:t>Background</a:t>
            </a:r>
          </a:p>
        </p:txBody>
      </p:sp>
      <p:sp>
        <p:nvSpPr>
          <p:cNvPr id="9" name="TextBox 8"/>
          <p:cNvSpPr txBox="1"/>
          <p:nvPr/>
        </p:nvSpPr>
        <p:spPr>
          <a:xfrm>
            <a:off x="1225295" y="5144605"/>
            <a:ext cx="8778240" cy="2215991"/>
          </a:xfrm>
          <a:prstGeom prst="rect">
            <a:avLst/>
          </a:prstGeom>
          <a:noFill/>
        </p:spPr>
        <p:txBody>
          <a:bodyPr wrap="square" lIns="0" tIns="0" rIns="0" bIns="0">
            <a:spAutoFit/>
          </a:bodyPr>
          <a:lstStyle/>
          <a:p>
            <a:pPr algn="l">
              <a:spcAft>
                <a:spcPts val="800"/>
              </a:spcAft>
            </a:pPr>
            <a:r>
              <a:rPr sz="2400" b="0" i="0" dirty="0">
                <a:solidFill>
                  <a:srgbClr val="1A1A1A"/>
                </a:solidFill>
                <a:latin typeface="Arial"/>
              </a:rPr>
              <a:t>Models are widely used to estimate data centre water and electricity use, but facility-level data are rare. Google discloses facility PUE, power usage effectiveness (2018 to 2025), and water (2022-2025) for named sites. We test published models against these disclosures: Lei &amp; Masanet (2022) for PUE, Siddik et al. (2021) for water per kWh, with the EU's mandatory reporting as a benchmark.</a:t>
            </a:r>
          </a:p>
        </p:txBody>
      </p:sp>
      <p:sp>
        <p:nvSpPr>
          <p:cNvPr id="11" name="TextBox 10"/>
          <p:cNvSpPr txBox="1"/>
          <p:nvPr/>
        </p:nvSpPr>
        <p:spPr>
          <a:xfrm>
            <a:off x="1225295" y="7745957"/>
            <a:ext cx="8778240" cy="523220"/>
          </a:xfrm>
          <a:prstGeom prst="rect">
            <a:avLst/>
          </a:prstGeom>
          <a:noFill/>
        </p:spPr>
        <p:txBody>
          <a:bodyPr wrap="square" lIns="0" tIns="0" rIns="0" bIns="0">
            <a:spAutoFit/>
          </a:bodyPr>
          <a:lstStyle/>
          <a:p>
            <a:pPr>
              <a:spcAft>
                <a:spcPts val="800"/>
              </a:spcAft>
            </a:pPr>
            <a:r>
              <a:rPr sz="3600" b="1" i="0" dirty="0">
                <a:latin typeface="Arial"/>
              </a:rPr>
              <a:t>Data and method</a:t>
            </a:r>
          </a:p>
        </p:txBody>
      </p:sp>
      <p:sp>
        <p:nvSpPr>
          <p:cNvPr id="12" name="TextBox 11"/>
          <p:cNvSpPr txBox="1"/>
          <p:nvPr/>
        </p:nvSpPr>
        <p:spPr>
          <a:xfrm>
            <a:off x="1225295" y="8386036"/>
            <a:ext cx="8778240" cy="4473019"/>
          </a:xfrm>
          <a:prstGeom prst="rect">
            <a:avLst/>
          </a:prstGeom>
          <a:noFill/>
        </p:spPr>
        <p:txBody>
          <a:bodyPr wrap="square" lIns="0" tIns="0" rIns="0" bIns="0">
            <a:spAutoFit/>
          </a:bodyPr>
          <a:lstStyle/>
          <a:p>
            <a:pPr marL="411480" indent="-411480" algn="l">
              <a:spcAft>
                <a:spcPts val="800"/>
              </a:spcAft>
              <a:buChar char="•"/>
            </a:pPr>
            <a:r>
              <a:rPr sz="2400" b="0" i="0" dirty="0">
                <a:solidFill>
                  <a:srgbClr val="1A1A1A"/>
                </a:solidFill>
                <a:latin typeface="Arial"/>
              </a:rPr>
              <a:t>Water panel: 128 site years (23, 29, 36 and 40 sites in 2022 to 2025). Sites plus ‘Other’ match Google’s printed totals.</a:t>
            </a:r>
          </a:p>
          <a:p>
            <a:pPr marL="411480" indent="-411480" algn="l">
              <a:spcAft>
                <a:spcPts val="800"/>
              </a:spcAft>
              <a:buChar char="•"/>
            </a:pPr>
            <a:r>
              <a:rPr sz="2400" b="0" i="0" dirty="0">
                <a:solidFill>
                  <a:srgbClr val="1A1A1A"/>
                </a:solidFill>
                <a:latin typeface="Arial"/>
              </a:rPr>
              <a:t>Fleet WUE (water usage effectiveness) = printed data centre water ÷ IT energy (electricity ÷ PUE)</a:t>
            </a:r>
          </a:p>
          <a:p>
            <a:pPr marL="411480" indent="-411480" algn="l">
              <a:spcAft>
                <a:spcPts val="800"/>
              </a:spcAft>
              <a:buChar char="•"/>
            </a:pPr>
            <a:r>
              <a:rPr sz="2400" b="0" i="0" dirty="0">
                <a:solidFill>
                  <a:srgbClr val="1A1A1A"/>
                </a:solidFill>
                <a:latin typeface="Arial"/>
              </a:rPr>
              <a:t>Lei &amp; Masanet (2022): lowest PUE a US data centre could reach by climate zone. Case 1 is its best practice case.</a:t>
            </a:r>
          </a:p>
          <a:p>
            <a:pPr marL="411480" indent="-411480" algn="l">
              <a:spcAft>
                <a:spcPts val="800"/>
              </a:spcAft>
              <a:buChar char="•"/>
            </a:pPr>
            <a:r>
              <a:rPr sz="2400" b="0" i="0" dirty="0">
                <a:solidFill>
                  <a:srgbClr val="1A1A1A"/>
                </a:solidFill>
                <a:latin typeface="Arial"/>
              </a:rPr>
              <a:t>Siddik et al. (2021) is a published estimate of US data centre water use. It applies one national figure of 1.8 litres per kWh of facility energy to every site.</a:t>
            </a:r>
          </a:p>
          <a:p>
            <a:pPr marL="411480" indent="-411480" algn="l">
              <a:spcAft>
                <a:spcPts val="800"/>
              </a:spcAft>
              <a:buChar char="•"/>
            </a:pPr>
            <a:r>
              <a:rPr sz="2400" b="0" i="0" dirty="0">
                <a:solidFill>
                  <a:srgbClr val="1A1A1A"/>
                </a:solidFill>
                <a:latin typeface="Arial"/>
              </a:rPr>
              <a:t>PUE: Google's 2025 facility PUE against the Lei &amp; Masanet Case 1 PUE for the site's climate zone; mean of campuses where a site has two</a:t>
            </a:r>
          </a:p>
          <a:p>
            <a:pPr marL="411480" indent="-411480" algn="l">
              <a:spcAft>
                <a:spcPts val="800"/>
              </a:spcAft>
              <a:buChar char="•"/>
            </a:pPr>
            <a:r>
              <a:rPr sz="2400" b="0" i="0" dirty="0">
                <a:solidFill>
                  <a:srgbClr val="1A1A1A"/>
                </a:solidFill>
                <a:latin typeface="Arial"/>
              </a:rPr>
              <a:t>Lei et al. (2023) samples are not location-specific, so they are not used as a test.</a:t>
            </a:r>
          </a:p>
        </p:txBody>
      </p:sp>
      <p:sp>
        <p:nvSpPr>
          <p:cNvPr id="13" name="Rectangle 12"/>
          <p:cNvSpPr/>
          <p:nvPr/>
        </p:nvSpPr>
        <p:spPr>
          <a:xfrm>
            <a:off x="859536" y="13956707"/>
            <a:ext cx="9509760" cy="10474969"/>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59536" y="14153312"/>
            <a:ext cx="9143999" cy="1107996"/>
          </a:xfrm>
          <a:prstGeom prst="rect">
            <a:avLst/>
          </a:prstGeom>
          <a:noFill/>
        </p:spPr>
        <p:txBody>
          <a:bodyPr wrap="square" lIns="0" tIns="0" rIns="0" bIns="0">
            <a:spAutoFit/>
          </a:bodyPr>
          <a:lstStyle/>
          <a:p>
            <a:pPr>
              <a:spcAft>
                <a:spcPts val="800"/>
              </a:spcAft>
            </a:pPr>
            <a:r>
              <a:rPr sz="3600" b="1" i="0" dirty="0">
                <a:latin typeface="Arial"/>
              </a:rPr>
              <a:t>1</a:t>
            </a:r>
            <a:r>
              <a:rPr lang="en-US" sz="3600" b="1" i="0" dirty="0">
                <a:latin typeface="Arial"/>
              </a:rPr>
              <a:t>.</a:t>
            </a:r>
            <a:r>
              <a:rPr sz="3600" b="1" i="0" dirty="0">
                <a:latin typeface="Arial"/>
              </a:rPr>
              <a:t> PUE: best practice is beaten at 14 of 15 sites</a:t>
            </a:r>
          </a:p>
        </p:txBody>
      </p:sp>
      <p:graphicFrame>
        <p:nvGraphicFramePr>
          <p:cNvPr id="15" name="Chart 14"/>
          <p:cNvGraphicFramePr>
            <a:graphicFrameLocks noGrp="1"/>
          </p:cNvGraphicFramePr>
          <p:nvPr>
            <p:extLst>
              <p:ext uri="{D42A27DB-BD31-4B8C-83A1-F6EECF244321}">
                <p14:modId xmlns:p14="http://schemas.microsoft.com/office/powerpoint/2010/main" val="836813878"/>
              </p:ext>
            </p:extLst>
          </p:nvPr>
        </p:nvGraphicFramePr>
        <p:xfrm>
          <a:off x="859536" y="15196626"/>
          <a:ext cx="9326879" cy="6998326"/>
        </p:xfrm>
        <a:graphic>
          <a:graphicData uri="http://schemas.openxmlformats.org/drawingml/2006/chart">
            <c:chart xmlns:c="http://schemas.openxmlformats.org/drawingml/2006/chart" xmlns:r="http://schemas.openxmlformats.org/officeDocument/2006/relationships" r:id="rId2"/>
          </a:graphicData>
        </a:graphic>
      </p:graphicFrame>
      <p:sp>
        <p:nvSpPr>
          <p:cNvPr id="16" name="TextBox 15"/>
          <p:cNvSpPr txBox="1"/>
          <p:nvPr/>
        </p:nvSpPr>
        <p:spPr>
          <a:xfrm>
            <a:off x="1225295" y="22194952"/>
            <a:ext cx="8778240" cy="713232"/>
          </a:xfrm>
          <a:prstGeom prst="rect">
            <a:avLst/>
          </a:prstGeom>
          <a:noFill/>
        </p:spPr>
        <p:txBody>
          <a:bodyPr wrap="square" lIns="0" tIns="0" rIns="0" bIns="0">
            <a:spAutoFit/>
          </a:bodyPr>
          <a:lstStyle/>
          <a:p>
            <a:pPr>
              <a:spcAft>
                <a:spcPts val="800"/>
              </a:spcAft>
            </a:pPr>
            <a:r>
              <a:rPr sz="2200" b="0" i="0">
                <a:solidFill>
                  <a:srgbClr val="5A6B78"/>
                </a:solidFill>
                <a:latin typeface="Arial"/>
              </a:rPr>
              <a:t>Figure 1. Google 2025 PUE minus Lei &amp; Masanet best-practice PUE (Case 1), IECC 2021 climate zones. Below zero: Google is lower.</a:t>
            </a:r>
          </a:p>
        </p:txBody>
      </p:sp>
      <p:sp>
        <p:nvSpPr>
          <p:cNvPr id="17" name="TextBox 16"/>
          <p:cNvSpPr txBox="1"/>
          <p:nvPr/>
        </p:nvSpPr>
        <p:spPr>
          <a:xfrm>
            <a:off x="1225295" y="22910724"/>
            <a:ext cx="8778240" cy="1107996"/>
          </a:xfrm>
          <a:prstGeom prst="rect">
            <a:avLst/>
          </a:prstGeom>
          <a:noFill/>
        </p:spPr>
        <p:txBody>
          <a:bodyPr wrap="square" lIns="0" tIns="0" rIns="0" bIns="0">
            <a:spAutoFit/>
          </a:bodyPr>
          <a:lstStyle/>
          <a:p>
            <a:pPr algn="l">
              <a:spcAft>
                <a:spcPts val="800"/>
              </a:spcAft>
            </a:pPr>
            <a:r>
              <a:rPr sz="2400" b="0" i="0" dirty="0">
                <a:solidFill>
                  <a:srgbClr val="1A1A1A"/>
                </a:solidFill>
                <a:latin typeface="Arial"/>
              </a:rPr>
              <a:t>Three sites (New Albany, Omaha, Lancaster) also beat Case 2, a design in the model that uses about 1.7 to 1.8 L of water per IT kWh. Storey County is the one miss against Case 1. At campus level, 14 of 17 campuses beat Case 1.</a:t>
            </a:r>
          </a:p>
        </p:txBody>
      </p:sp>
      <p:sp>
        <p:nvSpPr>
          <p:cNvPr id="18" name="Rectangle 17"/>
          <p:cNvSpPr/>
          <p:nvPr/>
        </p:nvSpPr>
        <p:spPr>
          <a:xfrm>
            <a:off x="859536" y="24384483"/>
            <a:ext cx="9509760" cy="4859172"/>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225295" y="24565475"/>
            <a:ext cx="8778240" cy="523220"/>
          </a:xfrm>
          <a:prstGeom prst="rect">
            <a:avLst/>
          </a:prstGeom>
          <a:noFill/>
        </p:spPr>
        <p:txBody>
          <a:bodyPr wrap="square" lIns="0" tIns="0" rIns="0" bIns="0">
            <a:spAutoFit/>
          </a:bodyPr>
          <a:lstStyle/>
          <a:p>
            <a:pPr>
              <a:spcAft>
                <a:spcPts val="800"/>
              </a:spcAft>
            </a:pPr>
            <a:r>
              <a:rPr sz="3600" b="1" i="0" dirty="0">
                <a:latin typeface="Arial"/>
              </a:rPr>
              <a:t>Within sites, 2022 to 2025</a:t>
            </a:r>
          </a:p>
        </p:txBody>
      </p:sp>
      <p:sp>
        <p:nvSpPr>
          <p:cNvPr id="20" name="Rectangle 19"/>
          <p:cNvSpPr/>
          <p:nvPr/>
        </p:nvSpPr>
        <p:spPr>
          <a:xfrm>
            <a:off x="1225295" y="25294455"/>
            <a:ext cx="2743200" cy="2651760"/>
          </a:xfrm>
          <a:prstGeom prst="rect">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1362455" y="25490036"/>
            <a:ext cx="2468880" cy="738664"/>
          </a:xfrm>
          <a:prstGeom prst="rect">
            <a:avLst/>
          </a:prstGeom>
          <a:noFill/>
        </p:spPr>
        <p:txBody>
          <a:bodyPr wrap="square" lIns="0" tIns="0" rIns="0" bIns="0">
            <a:spAutoFit/>
          </a:bodyPr>
          <a:lstStyle/>
          <a:p>
            <a:pPr>
              <a:spcAft>
                <a:spcPts val="800"/>
              </a:spcAft>
            </a:pPr>
            <a:r>
              <a:rPr sz="4800" b="1" i="0" dirty="0">
                <a:latin typeface="Arial"/>
              </a:rPr>
              <a:t>11/16</a:t>
            </a:r>
          </a:p>
        </p:txBody>
      </p:sp>
      <p:sp>
        <p:nvSpPr>
          <p:cNvPr id="22" name="TextBox 21"/>
          <p:cNvSpPr txBox="1"/>
          <p:nvPr/>
        </p:nvSpPr>
        <p:spPr>
          <a:xfrm>
            <a:off x="1362455" y="26404436"/>
            <a:ext cx="2468880" cy="713232"/>
          </a:xfrm>
          <a:prstGeom prst="rect">
            <a:avLst/>
          </a:prstGeom>
          <a:noFill/>
        </p:spPr>
        <p:txBody>
          <a:bodyPr wrap="square" lIns="0" tIns="0" rIns="0" bIns="0">
            <a:spAutoFit/>
          </a:bodyPr>
          <a:lstStyle/>
          <a:p>
            <a:pPr>
              <a:spcAft>
                <a:spcPts val="800"/>
              </a:spcAft>
            </a:pPr>
            <a:r>
              <a:rPr sz="2200" b="0" i="0">
                <a:solidFill>
                  <a:srgbClr val="1A1A1A"/>
                </a:solidFill>
                <a:latin typeface="Arial"/>
              </a:rPr>
              <a:t>sites where PUE improved</a:t>
            </a:r>
          </a:p>
        </p:txBody>
      </p:sp>
      <p:sp>
        <p:nvSpPr>
          <p:cNvPr id="23" name="Rectangle 22"/>
          <p:cNvSpPr/>
          <p:nvPr/>
        </p:nvSpPr>
        <p:spPr>
          <a:xfrm>
            <a:off x="4242816" y="25294455"/>
            <a:ext cx="2743200" cy="2651760"/>
          </a:xfrm>
          <a:prstGeom prst="rect">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4379976" y="25490036"/>
            <a:ext cx="2468880" cy="738664"/>
          </a:xfrm>
          <a:prstGeom prst="rect">
            <a:avLst/>
          </a:prstGeom>
          <a:noFill/>
        </p:spPr>
        <p:txBody>
          <a:bodyPr wrap="square" lIns="0" tIns="0" rIns="0" bIns="0">
            <a:spAutoFit/>
          </a:bodyPr>
          <a:lstStyle/>
          <a:p>
            <a:pPr>
              <a:spcAft>
                <a:spcPts val="800"/>
              </a:spcAft>
            </a:pPr>
            <a:r>
              <a:rPr sz="4800" b="1" i="0" dirty="0">
                <a:latin typeface="Arial"/>
              </a:rPr>
              <a:t>14/16</a:t>
            </a:r>
          </a:p>
        </p:txBody>
      </p:sp>
      <p:sp>
        <p:nvSpPr>
          <p:cNvPr id="25" name="TextBox 24"/>
          <p:cNvSpPr txBox="1"/>
          <p:nvPr/>
        </p:nvSpPr>
        <p:spPr>
          <a:xfrm>
            <a:off x="4379976" y="26404436"/>
            <a:ext cx="2468880" cy="713232"/>
          </a:xfrm>
          <a:prstGeom prst="rect">
            <a:avLst/>
          </a:prstGeom>
          <a:noFill/>
        </p:spPr>
        <p:txBody>
          <a:bodyPr wrap="square" lIns="0" tIns="0" rIns="0" bIns="0">
            <a:spAutoFit/>
          </a:bodyPr>
          <a:lstStyle/>
          <a:p>
            <a:pPr>
              <a:spcAft>
                <a:spcPts val="800"/>
              </a:spcAft>
            </a:pPr>
            <a:r>
              <a:rPr sz="2200" b="0" i="0">
                <a:solidFill>
                  <a:srgbClr val="1A1A1A"/>
                </a:solidFill>
                <a:latin typeface="Arial"/>
              </a:rPr>
              <a:t>sites where water use rose</a:t>
            </a:r>
          </a:p>
        </p:txBody>
      </p:sp>
      <p:sp>
        <p:nvSpPr>
          <p:cNvPr id="26" name="Rectangle 25"/>
          <p:cNvSpPr/>
          <p:nvPr/>
        </p:nvSpPr>
        <p:spPr>
          <a:xfrm>
            <a:off x="7260336" y="25294455"/>
            <a:ext cx="2743200" cy="2651760"/>
          </a:xfrm>
          <a:prstGeom prst="rect">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7397496" y="25490036"/>
            <a:ext cx="2468880" cy="738664"/>
          </a:xfrm>
          <a:prstGeom prst="rect">
            <a:avLst/>
          </a:prstGeom>
          <a:noFill/>
        </p:spPr>
        <p:txBody>
          <a:bodyPr wrap="square" lIns="0" tIns="0" rIns="0" bIns="0">
            <a:spAutoFit/>
          </a:bodyPr>
          <a:lstStyle/>
          <a:p>
            <a:pPr>
              <a:spcAft>
                <a:spcPts val="800"/>
              </a:spcAft>
            </a:pPr>
            <a:r>
              <a:rPr sz="4800" b="1" i="0" dirty="0">
                <a:latin typeface="Arial"/>
              </a:rPr>
              <a:t>1.7×</a:t>
            </a:r>
          </a:p>
        </p:txBody>
      </p:sp>
      <p:sp>
        <p:nvSpPr>
          <p:cNvPr id="28" name="TextBox 27"/>
          <p:cNvSpPr txBox="1"/>
          <p:nvPr/>
        </p:nvSpPr>
        <p:spPr>
          <a:xfrm>
            <a:off x="7397496" y="26404436"/>
            <a:ext cx="2468880" cy="713232"/>
          </a:xfrm>
          <a:prstGeom prst="rect">
            <a:avLst/>
          </a:prstGeom>
          <a:noFill/>
        </p:spPr>
        <p:txBody>
          <a:bodyPr wrap="square" lIns="0" tIns="0" rIns="0" bIns="0">
            <a:spAutoFit/>
          </a:bodyPr>
          <a:lstStyle/>
          <a:p>
            <a:pPr>
              <a:spcAft>
                <a:spcPts val="800"/>
              </a:spcAft>
            </a:pPr>
            <a:r>
              <a:rPr sz="2200" b="0" i="0">
                <a:solidFill>
                  <a:srgbClr val="1A1A1A"/>
                </a:solidFill>
                <a:latin typeface="Arial"/>
              </a:rPr>
              <a:t>median growth in water use</a:t>
            </a:r>
          </a:p>
        </p:txBody>
      </p:sp>
      <p:sp>
        <p:nvSpPr>
          <p:cNvPr id="29" name="TextBox 28"/>
          <p:cNvSpPr txBox="1"/>
          <p:nvPr/>
        </p:nvSpPr>
        <p:spPr>
          <a:xfrm>
            <a:off x="1225295" y="28220535"/>
            <a:ext cx="8778240" cy="1170432"/>
          </a:xfrm>
          <a:prstGeom prst="rect">
            <a:avLst/>
          </a:prstGeom>
          <a:noFill/>
        </p:spPr>
        <p:txBody>
          <a:bodyPr wrap="square" lIns="0" tIns="0" rIns="0" bIns="0">
            <a:spAutoFit/>
          </a:bodyPr>
          <a:lstStyle/>
          <a:p>
            <a:pPr>
              <a:spcAft>
                <a:spcPts val="800"/>
              </a:spcAft>
            </a:pPr>
            <a:r>
              <a:rPr sz="2200" b="0" i="0">
                <a:solidFill>
                  <a:srgbClr val="1A1A1A"/>
                </a:solidFill>
                <a:latin typeface="Arial"/>
              </a:rPr>
              <a:t>16 sites with PUE and water in both 2022 and 2025. Site load growth is not observed, so this is description, not an efficiency claim.</a:t>
            </a:r>
          </a:p>
        </p:txBody>
      </p:sp>
      <p:sp>
        <p:nvSpPr>
          <p:cNvPr id="30" name="Rectangle 29"/>
          <p:cNvSpPr/>
          <p:nvPr/>
        </p:nvSpPr>
        <p:spPr>
          <a:xfrm>
            <a:off x="10917936" y="4552950"/>
            <a:ext cx="9509760" cy="11424244"/>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283696" y="4657535"/>
            <a:ext cx="8778240" cy="523220"/>
          </a:xfrm>
          <a:prstGeom prst="rect">
            <a:avLst/>
          </a:prstGeom>
          <a:noFill/>
        </p:spPr>
        <p:txBody>
          <a:bodyPr wrap="square" lIns="0" tIns="0" rIns="0" bIns="0">
            <a:spAutoFit/>
          </a:bodyPr>
          <a:lstStyle/>
          <a:p>
            <a:pPr>
              <a:spcAft>
                <a:spcPts val="800"/>
              </a:spcAft>
            </a:pPr>
            <a:r>
              <a:rPr sz="3600" b="1" i="0" dirty="0">
                <a:latin typeface="Arial"/>
              </a:rPr>
              <a:t>2</a:t>
            </a:r>
            <a:r>
              <a:rPr lang="en-US" sz="3600" b="1" i="0" dirty="0">
                <a:latin typeface="Arial"/>
              </a:rPr>
              <a:t>.</a:t>
            </a:r>
            <a:r>
              <a:rPr sz="3600" b="1" i="0" dirty="0">
                <a:latin typeface="Arial"/>
              </a:rPr>
              <a:t> Water per kWh: below US constant</a:t>
            </a:r>
          </a:p>
        </p:txBody>
      </p:sp>
      <p:sp>
        <p:nvSpPr>
          <p:cNvPr id="32" name="Rectangle 31"/>
          <p:cNvSpPr/>
          <p:nvPr/>
        </p:nvSpPr>
        <p:spPr>
          <a:xfrm>
            <a:off x="11283696" y="5395127"/>
            <a:ext cx="2743200" cy="2651760"/>
          </a:xfrm>
          <a:prstGeom prst="rect">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2"/>
          <p:cNvSpPr txBox="1"/>
          <p:nvPr/>
        </p:nvSpPr>
        <p:spPr>
          <a:xfrm>
            <a:off x="11420856" y="5709095"/>
            <a:ext cx="2468880" cy="738664"/>
          </a:xfrm>
          <a:prstGeom prst="rect">
            <a:avLst/>
          </a:prstGeom>
          <a:noFill/>
        </p:spPr>
        <p:txBody>
          <a:bodyPr wrap="square" lIns="0" tIns="0" rIns="0" bIns="0">
            <a:spAutoFit/>
          </a:bodyPr>
          <a:lstStyle/>
          <a:p>
            <a:pPr>
              <a:spcAft>
                <a:spcPts val="800"/>
              </a:spcAft>
            </a:pPr>
            <a:r>
              <a:rPr sz="4800" b="1" i="0" dirty="0">
                <a:latin typeface="Arial"/>
              </a:rPr>
              <a:t>1.05</a:t>
            </a:r>
          </a:p>
        </p:txBody>
      </p:sp>
      <p:sp>
        <p:nvSpPr>
          <p:cNvPr id="34" name="TextBox 33"/>
          <p:cNvSpPr txBox="1"/>
          <p:nvPr/>
        </p:nvSpPr>
        <p:spPr>
          <a:xfrm>
            <a:off x="11420856" y="6711986"/>
            <a:ext cx="2468880" cy="713232"/>
          </a:xfrm>
          <a:prstGeom prst="rect">
            <a:avLst/>
          </a:prstGeom>
          <a:noFill/>
        </p:spPr>
        <p:txBody>
          <a:bodyPr wrap="square" lIns="0" tIns="0" rIns="0" bIns="0">
            <a:spAutoFit/>
          </a:bodyPr>
          <a:lstStyle/>
          <a:p>
            <a:pPr>
              <a:spcAft>
                <a:spcPts val="800"/>
              </a:spcAft>
            </a:pPr>
            <a:r>
              <a:rPr sz="2200" b="0" i="0">
                <a:solidFill>
                  <a:srgbClr val="1A1A1A"/>
                </a:solidFill>
                <a:latin typeface="Arial"/>
              </a:rPr>
              <a:t>L per IT kWh, fleet, 2022-24</a:t>
            </a:r>
          </a:p>
        </p:txBody>
      </p:sp>
      <p:sp>
        <p:nvSpPr>
          <p:cNvPr id="35" name="Rectangle 34"/>
          <p:cNvSpPr/>
          <p:nvPr/>
        </p:nvSpPr>
        <p:spPr>
          <a:xfrm>
            <a:off x="14250924" y="5395127"/>
            <a:ext cx="2743200" cy="2651760"/>
          </a:xfrm>
          <a:prstGeom prst="rect">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14438376" y="5738592"/>
            <a:ext cx="2468880" cy="738664"/>
          </a:xfrm>
          <a:prstGeom prst="rect">
            <a:avLst/>
          </a:prstGeom>
          <a:noFill/>
        </p:spPr>
        <p:txBody>
          <a:bodyPr wrap="square" lIns="0" tIns="0" rIns="0" bIns="0">
            <a:spAutoFit/>
          </a:bodyPr>
          <a:lstStyle/>
          <a:p>
            <a:pPr>
              <a:spcAft>
                <a:spcPts val="800"/>
              </a:spcAft>
            </a:pPr>
            <a:r>
              <a:rPr sz="4800" b="1" i="0" dirty="0">
                <a:latin typeface="Arial"/>
              </a:rPr>
              <a:t>52-54%</a:t>
            </a:r>
          </a:p>
        </p:txBody>
      </p:sp>
      <p:sp>
        <p:nvSpPr>
          <p:cNvPr id="37" name="TextBox 36"/>
          <p:cNvSpPr txBox="1"/>
          <p:nvPr/>
        </p:nvSpPr>
        <p:spPr>
          <a:xfrm>
            <a:off x="14438376" y="6711986"/>
            <a:ext cx="2468880" cy="713232"/>
          </a:xfrm>
          <a:prstGeom prst="rect">
            <a:avLst/>
          </a:prstGeom>
          <a:noFill/>
        </p:spPr>
        <p:txBody>
          <a:bodyPr wrap="square" lIns="0" tIns="0" rIns="0" bIns="0">
            <a:spAutoFit/>
          </a:bodyPr>
          <a:lstStyle/>
          <a:p>
            <a:pPr>
              <a:spcAft>
                <a:spcPts val="800"/>
              </a:spcAft>
            </a:pPr>
            <a:r>
              <a:rPr sz="2200" b="0" i="0">
                <a:solidFill>
                  <a:srgbClr val="1A1A1A"/>
                </a:solidFill>
                <a:latin typeface="Arial"/>
              </a:rPr>
              <a:t>of Siddik's 1.8 per facility kWh</a:t>
            </a:r>
          </a:p>
        </p:txBody>
      </p:sp>
      <p:sp>
        <p:nvSpPr>
          <p:cNvPr id="38" name="Rectangle 37"/>
          <p:cNvSpPr/>
          <p:nvPr/>
        </p:nvSpPr>
        <p:spPr>
          <a:xfrm>
            <a:off x="17318736" y="5409031"/>
            <a:ext cx="2743200" cy="2651760"/>
          </a:xfrm>
          <a:prstGeom prst="rect">
            <a:avLst/>
          </a:prstGeom>
          <a:solidFill>
            <a:srgbClr val="E8EE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17455896" y="5738592"/>
            <a:ext cx="2468880" cy="738664"/>
          </a:xfrm>
          <a:prstGeom prst="rect">
            <a:avLst/>
          </a:prstGeom>
          <a:noFill/>
        </p:spPr>
        <p:txBody>
          <a:bodyPr wrap="square" lIns="0" tIns="0" rIns="0" bIns="0">
            <a:spAutoFit/>
          </a:bodyPr>
          <a:lstStyle/>
          <a:p>
            <a:pPr>
              <a:spcAft>
                <a:spcPts val="800"/>
              </a:spcAft>
            </a:pPr>
            <a:r>
              <a:rPr sz="4800" b="1" i="0" dirty="0">
                <a:latin typeface="Arial"/>
              </a:rPr>
              <a:t>1.8×</a:t>
            </a:r>
          </a:p>
        </p:txBody>
      </p:sp>
      <p:sp>
        <p:nvSpPr>
          <p:cNvPr id="40" name="TextBox 39"/>
          <p:cNvSpPr txBox="1"/>
          <p:nvPr/>
        </p:nvSpPr>
        <p:spPr>
          <a:xfrm>
            <a:off x="17455896" y="6711986"/>
            <a:ext cx="2468880" cy="713232"/>
          </a:xfrm>
          <a:prstGeom prst="rect">
            <a:avLst/>
          </a:prstGeom>
          <a:noFill/>
        </p:spPr>
        <p:txBody>
          <a:bodyPr wrap="square" lIns="0" tIns="0" rIns="0" bIns="0">
            <a:spAutoFit/>
          </a:bodyPr>
          <a:lstStyle/>
          <a:p>
            <a:pPr>
              <a:spcAft>
                <a:spcPts val="800"/>
              </a:spcAft>
            </a:pPr>
            <a:r>
              <a:rPr sz="2200" b="0" i="0">
                <a:solidFill>
                  <a:srgbClr val="1A1A1A"/>
                </a:solidFill>
                <a:latin typeface="Arial"/>
              </a:rPr>
              <a:t>the EU 2024 average of 0.58</a:t>
            </a:r>
          </a:p>
        </p:txBody>
      </p:sp>
      <p:graphicFrame>
        <p:nvGraphicFramePr>
          <p:cNvPr id="41" name="Chart 40"/>
          <p:cNvGraphicFramePr>
            <a:graphicFrameLocks noGrp="1"/>
          </p:cNvGraphicFramePr>
          <p:nvPr>
            <p:extLst>
              <p:ext uri="{D42A27DB-BD31-4B8C-83A1-F6EECF244321}">
                <p14:modId xmlns:p14="http://schemas.microsoft.com/office/powerpoint/2010/main" val="2883981371"/>
              </p:ext>
            </p:extLst>
          </p:nvPr>
        </p:nvGraphicFramePr>
        <p:xfrm>
          <a:off x="11100816" y="8393301"/>
          <a:ext cx="9144000" cy="5486400"/>
        </p:xfrm>
        <a:graphic>
          <a:graphicData uri="http://schemas.openxmlformats.org/drawingml/2006/chart">
            <c:chart xmlns:c="http://schemas.openxmlformats.org/drawingml/2006/chart" xmlns:r="http://schemas.openxmlformats.org/officeDocument/2006/relationships" r:id="rId3"/>
          </a:graphicData>
        </a:graphic>
      </p:graphicFrame>
      <p:sp>
        <p:nvSpPr>
          <p:cNvPr id="42" name="TextBox 41"/>
          <p:cNvSpPr txBox="1"/>
          <p:nvPr/>
        </p:nvSpPr>
        <p:spPr>
          <a:xfrm>
            <a:off x="11283696" y="13879701"/>
            <a:ext cx="8778240" cy="713232"/>
          </a:xfrm>
          <a:prstGeom prst="rect">
            <a:avLst/>
          </a:prstGeom>
          <a:noFill/>
        </p:spPr>
        <p:txBody>
          <a:bodyPr wrap="square" lIns="0" tIns="0" rIns="0" bIns="0">
            <a:spAutoFit/>
          </a:bodyPr>
          <a:lstStyle/>
          <a:p>
            <a:pPr>
              <a:spcAft>
                <a:spcPts val="800"/>
              </a:spcAft>
            </a:pPr>
            <a:r>
              <a:rPr sz="2200" b="0" i="0">
                <a:solidFill>
                  <a:srgbClr val="5A6B78"/>
                </a:solidFill>
                <a:latin typeface="Arial"/>
              </a:rPr>
              <a:t>Figure 2. Google fleet WUE (water usage effectiveness, litres of water per IT kWh), 2022 to 2025, and the EU 2024 average (770 sites, Energy Efficiency Directive). Google values are printed data centre water divided by IT energy. Siddik’s 1.8 is per facility kWh, so Google’s figure is divided by PUE before comparing.</a:t>
            </a:r>
          </a:p>
        </p:txBody>
      </p:sp>
      <p:sp>
        <p:nvSpPr>
          <p:cNvPr id="43" name="TextBox 42"/>
          <p:cNvSpPr txBox="1"/>
          <p:nvPr/>
        </p:nvSpPr>
        <p:spPr>
          <a:xfrm>
            <a:off x="11283696" y="15865473"/>
            <a:ext cx="8778240" cy="1107996"/>
          </a:xfrm>
          <a:prstGeom prst="rect">
            <a:avLst/>
          </a:prstGeom>
          <a:noFill/>
        </p:spPr>
        <p:txBody>
          <a:bodyPr wrap="square" lIns="0" tIns="0" rIns="0" bIns="0">
            <a:spAutoFit/>
          </a:bodyPr>
          <a:lstStyle/>
          <a:p>
            <a:pPr algn="l">
              <a:spcAft>
                <a:spcPts val="800"/>
              </a:spcAft>
            </a:pPr>
            <a:r>
              <a:rPr sz="2400" b="0" i="0" dirty="0">
                <a:solidFill>
                  <a:srgbClr val="1A1A1A"/>
                </a:solidFill>
                <a:latin typeface="Arial"/>
              </a:rPr>
              <a:t>Google's water use per kWh is about half the US constant, so the constant is too high for Google's facilities. It does not make Google water-efficient: its WUE is above the EU average.</a:t>
            </a:r>
          </a:p>
        </p:txBody>
      </p:sp>
      <p:sp>
        <p:nvSpPr>
          <p:cNvPr id="44" name="Rectangle 43"/>
          <p:cNvSpPr/>
          <p:nvPr/>
        </p:nvSpPr>
        <p:spPr>
          <a:xfrm>
            <a:off x="11018520" y="17131406"/>
            <a:ext cx="9509760" cy="3157475"/>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1384280" y="17509865"/>
            <a:ext cx="8778240" cy="523220"/>
          </a:xfrm>
          <a:prstGeom prst="rect">
            <a:avLst/>
          </a:prstGeom>
          <a:noFill/>
        </p:spPr>
        <p:txBody>
          <a:bodyPr wrap="square" lIns="0" tIns="0" rIns="0" bIns="0">
            <a:spAutoFit/>
          </a:bodyPr>
          <a:lstStyle/>
          <a:p>
            <a:pPr>
              <a:spcAft>
                <a:spcPts val="800"/>
              </a:spcAft>
            </a:pPr>
            <a:r>
              <a:rPr sz="3600" b="1" i="0" dirty="0">
                <a:latin typeface="Arial"/>
              </a:rPr>
              <a:t>3. A plausibility check</a:t>
            </a:r>
          </a:p>
        </p:txBody>
      </p:sp>
      <p:sp>
        <p:nvSpPr>
          <p:cNvPr id="46" name="TextBox 45"/>
          <p:cNvSpPr txBox="1"/>
          <p:nvPr/>
        </p:nvSpPr>
        <p:spPr>
          <a:xfrm>
            <a:off x="11384280" y="18365845"/>
            <a:ext cx="8778240" cy="1846659"/>
          </a:xfrm>
          <a:prstGeom prst="rect">
            <a:avLst/>
          </a:prstGeom>
          <a:noFill/>
        </p:spPr>
        <p:txBody>
          <a:bodyPr wrap="square" lIns="0" tIns="0" rIns="0" bIns="0">
            <a:spAutoFit/>
          </a:bodyPr>
          <a:lstStyle/>
          <a:p>
            <a:pPr algn="l">
              <a:spcAft>
                <a:spcPts val="800"/>
              </a:spcAft>
            </a:pPr>
            <a:r>
              <a:rPr sz="2400" b="0" i="0" dirty="0">
                <a:solidFill>
                  <a:srgbClr val="1A1A1A"/>
                </a:solidFill>
                <a:latin typeface="Arial"/>
              </a:rPr>
              <a:t>Building footprint estimates from the Pacific Northwest National Laboratory (PNNL) IM3 model, scaled to Google’s fleet IT energy, give 0.49 to 1.44 L per kWh at 8 US sites. This range includes Google’s fleet figure of 1.05. The scaling uses one fitted factor, so it cannot test differences between sites.</a:t>
            </a:r>
          </a:p>
        </p:txBody>
      </p:sp>
      <p:sp>
        <p:nvSpPr>
          <p:cNvPr id="47" name="Rectangle 46"/>
          <p:cNvSpPr/>
          <p:nvPr/>
        </p:nvSpPr>
        <p:spPr>
          <a:xfrm>
            <a:off x="11018520" y="20421444"/>
            <a:ext cx="9509760" cy="4140200"/>
          </a:xfrm>
          <a:prstGeom prst="rect">
            <a:avLst/>
          </a:prstGeom>
          <a:solidFill>
            <a:schemeClr val="accent4">
              <a:lumMod val="7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1384280" y="20571303"/>
            <a:ext cx="8778240" cy="682751"/>
          </a:xfrm>
          <a:prstGeom prst="rect">
            <a:avLst/>
          </a:prstGeom>
          <a:noFill/>
        </p:spPr>
        <p:txBody>
          <a:bodyPr wrap="square" lIns="0" tIns="0" rIns="0" bIns="0">
            <a:spAutoFit/>
          </a:bodyPr>
          <a:lstStyle/>
          <a:p>
            <a:pPr>
              <a:spcAft>
                <a:spcPts val="800"/>
              </a:spcAft>
            </a:pPr>
            <a:r>
              <a:rPr sz="3600" b="1" i="0">
                <a:solidFill>
                  <a:srgbClr val="FFFFFF"/>
                </a:solidFill>
                <a:latin typeface="Arial"/>
              </a:rPr>
              <a:t>Conclusions</a:t>
            </a:r>
          </a:p>
        </p:txBody>
      </p:sp>
      <p:sp>
        <p:nvSpPr>
          <p:cNvPr id="49" name="TextBox 48"/>
          <p:cNvSpPr txBox="1"/>
          <p:nvPr/>
        </p:nvSpPr>
        <p:spPr>
          <a:xfrm>
            <a:off x="11384280" y="21173283"/>
            <a:ext cx="8778240" cy="3262432"/>
          </a:xfrm>
          <a:prstGeom prst="rect">
            <a:avLst/>
          </a:prstGeom>
          <a:noFill/>
        </p:spPr>
        <p:txBody>
          <a:bodyPr wrap="square" lIns="0" tIns="0" rIns="0" bIns="0">
            <a:spAutoFit/>
          </a:bodyPr>
          <a:lstStyle/>
          <a:p>
            <a:pPr marL="411480" indent="-411480" algn="l">
              <a:spcAft>
                <a:spcPts val="800"/>
              </a:spcAft>
              <a:buChar char="•"/>
            </a:pPr>
            <a:r>
              <a:rPr sz="2400" b="0" i="0" dirty="0">
                <a:solidFill>
                  <a:srgbClr val="FFFFFF"/>
                </a:solidFill>
                <a:latin typeface="Arial"/>
              </a:rPr>
              <a:t>The PUE model is conservative for Google. The water constant is too high for Google.</a:t>
            </a:r>
          </a:p>
          <a:p>
            <a:pPr marL="411480" indent="-411480" algn="l">
              <a:spcAft>
                <a:spcPts val="800"/>
              </a:spcAft>
              <a:buChar char="•"/>
            </a:pPr>
            <a:r>
              <a:rPr sz="2400" b="0" i="0" dirty="0">
                <a:solidFill>
                  <a:srgbClr val="FFFFFF"/>
                </a:solidFill>
                <a:latin typeface="Arial"/>
              </a:rPr>
              <a:t>Google's PUE is at or below the models' best-practice case at 14 of 15 sites</a:t>
            </a:r>
          </a:p>
          <a:p>
            <a:pPr marL="411480" indent="-411480" algn="l">
              <a:spcAft>
                <a:spcPts val="800"/>
              </a:spcAft>
              <a:buChar char="•"/>
            </a:pPr>
            <a:r>
              <a:rPr sz="2400" b="0" i="0" dirty="0">
                <a:solidFill>
                  <a:srgbClr val="FFFFFF"/>
                </a:solidFill>
                <a:latin typeface="Arial"/>
              </a:rPr>
              <a:t>Google's water per facility kWh is about half Siddik's national constant, yet 1.8× the EU average</a:t>
            </a:r>
          </a:p>
          <a:p>
            <a:pPr marL="411480" indent="-411480" algn="l">
              <a:spcAft>
                <a:spcPts val="800"/>
              </a:spcAft>
              <a:buChar char="•"/>
            </a:pPr>
            <a:r>
              <a:rPr sz="2400" b="0" i="0" dirty="0">
                <a:solidFill>
                  <a:srgbClr val="FFFFFF"/>
                </a:solidFill>
                <a:latin typeface="Arial"/>
              </a:rPr>
              <a:t>Water use rose at 14 of 16 sites while PUE improved at 11; load growth is unobserved</a:t>
            </a:r>
          </a:p>
        </p:txBody>
      </p:sp>
      <p:sp>
        <p:nvSpPr>
          <p:cNvPr id="50" name="Rectangle 49"/>
          <p:cNvSpPr/>
          <p:nvPr/>
        </p:nvSpPr>
        <p:spPr>
          <a:xfrm>
            <a:off x="11018520" y="25236894"/>
            <a:ext cx="9509760" cy="4361563"/>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50"/>
          <p:cNvSpPr txBox="1"/>
          <p:nvPr/>
        </p:nvSpPr>
        <p:spPr>
          <a:xfrm>
            <a:off x="11384280" y="24789853"/>
            <a:ext cx="8778240" cy="523220"/>
          </a:xfrm>
          <a:prstGeom prst="rect">
            <a:avLst/>
          </a:prstGeom>
          <a:noFill/>
        </p:spPr>
        <p:txBody>
          <a:bodyPr wrap="square" lIns="0" tIns="0" rIns="0" bIns="0">
            <a:spAutoFit/>
          </a:bodyPr>
          <a:lstStyle/>
          <a:p>
            <a:pPr>
              <a:spcAft>
                <a:spcPts val="800"/>
              </a:spcAft>
            </a:pPr>
            <a:r>
              <a:rPr sz="3600" b="1" i="0" dirty="0">
                <a:latin typeface="Arial"/>
              </a:rPr>
              <a:t>Limitations</a:t>
            </a:r>
          </a:p>
        </p:txBody>
      </p:sp>
      <p:sp>
        <p:nvSpPr>
          <p:cNvPr id="52" name="TextBox 51"/>
          <p:cNvSpPr txBox="1"/>
          <p:nvPr/>
        </p:nvSpPr>
        <p:spPr>
          <a:xfrm>
            <a:off x="11384280" y="25569633"/>
            <a:ext cx="8778240" cy="2339102"/>
          </a:xfrm>
          <a:prstGeom prst="rect">
            <a:avLst/>
          </a:prstGeom>
          <a:noFill/>
        </p:spPr>
        <p:txBody>
          <a:bodyPr wrap="square" lIns="0" tIns="0" rIns="0" bIns="0">
            <a:spAutoFit/>
          </a:bodyPr>
          <a:lstStyle/>
          <a:p>
            <a:pPr marL="411480" indent="-411480" algn="l">
              <a:spcAft>
                <a:spcPts val="800"/>
              </a:spcAft>
              <a:buChar char="•"/>
            </a:pPr>
            <a:r>
              <a:rPr sz="2200" b="0" i="0" dirty="0">
                <a:solidFill>
                  <a:srgbClr val="1A1A1A"/>
                </a:solidFill>
                <a:latin typeface="Arial"/>
              </a:rPr>
              <a:t>One firm's voluntary disclosure: selection bias towards efficient operators</a:t>
            </a:r>
          </a:p>
          <a:p>
            <a:pPr marL="411480" indent="-411480" algn="l">
              <a:spcAft>
                <a:spcPts val="800"/>
              </a:spcAft>
              <a:buChar char="•"/>
            </a:pPr>
            <a:r>
              <a:rPr sz="2200" b="0" i="0" dirty="0">
                <a:solidFill>
                  <a:srgbClr val="1A1A1A"/>
                </a:solidFill>
                <a:latin typeface="Arial"/>
              </a:rPr>
              <a:t>Site water only; indirect water is about three-quarters of the footprint (Siddik)</a:t>
            </a:r>
          </a:p>
          <a:p>
            <a:pPr marL="411480" indent="-411480" algn="l">
              <a:spcAft>
                <a:spcPts val="800"/>
              </a:spcAft>
              <a:buChar char="•"/>
            </a:pPr>
            <a:r>
              <a:rPr sz="2200" b="0" i="0" dirty="0">
                <a:solidFill>
                  <a:srgbClr val="1A1A1A"/>
                </a:solidFill>
                <a:latin typeface="Arial"/>
              </a:rPr>
              <a:t>Gross consumption; Google's replenishment is not netted off</a:t>
            </a:r>
          </a:p>
          <a:p>
            <a:pPr marL="411480" indent="-411480" algn="l">
              <a:spcAft>
                <a:spcPts val="800"/>
              </a:spcAft>
              <a:buChar char="•"/>
            </a:pPr>
            <a:r>
              <a:rPr sz="2200" b="0" i="0" dirty="0">
                <a:solidFill>
                  <a:srgbClr val="1A1A1A"/>
                </a:solidFill>
                <a:latin typeface="Arial"/>
              </a:rPr>
              <a:t>About 10% of data centre water is in unlocated 'Other' sites</a:t>
            </a:r>
          </a:p>
          <a:p>
            <a:pPr marL="411480" indent="-411480" algn="l">
              <a:spcAft>
                <a:spcPts val="800"/>
              </a:spcAft>
              <a:buChar char="•"/>
            </a:pPr>
            <a:r>
              <a:rPr sz="2200" b="0" i="0" dirty="0">
                <a:solidFill>
                  <a:srgbClr val="1A1A1A"/>
                </a:solidFill>
                <a:latin typeface="Arial"/>
              </a:rPr>
              <a:t>No US facility-level energy data are public, which limits any direct test of WUE</a:t>
            </a:r>
          </a:p>
        </p:txBody>
      </p:sp>
      <p:sp>
        <p:nvSpPr>
          <p:cNvPr id="53" name="Rectangle 52"/>
          <p:cNvSpPr/>
          <p:nvPr/>
        </p:nvSpPr>
        <p:spPr>
          <a:xfrm>
            <a:off x="859536" y="28878101"/>
            <a:ext cx="20125944" cy="110310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4" name="TextBox 53"/>
          <p:cNvSpPr txBox="1"/>
          <p:nvPr/>
        </p:nvSpPr>
        <p:spPr>
          <a:xfrm>
            <a:off x="1225295" y="29051593"/>
            <a:ext cx="19394424" cy="738664"/>
          </a:xfrm>
          <a:prstGeom prst="rect">
            <a:avLst/>
          </a:prstGeom>
          <a:noFill/>
        </p:spPr>
        <p:txBody>
          <a:bodyPr wrap="square" lIns="0" tIns="0" rIns="0" bIns="0">
            <a:spAutoFit/>
          </a:bodyPr>
          <a:lstStyle/>
          <a:p>
            <a:pPr algn="l">
              <a:spcAft>
                <a:spcPts val="800"/>
              </a:spcAft>
            </a:pPr>
            <a:r>
              <a:rPr sz="2000" b="0" i="0" dirty="0">
                <a:solidFill>
                  <a:srgbClr val="5A6B78"/>
                </a:solidFill>
                <a:latin typeface="Arial"/>
              </a:rPr>
              <a:t>References: Lei, N. &amp; Masanet, E. (2022) Resources, Conservation and Recycling 182. Siddik, M.A.B., Shehabi, A. &amp; Marston, L. (2021) Environmental Research Letters 16, 064017. Lei, N. et al. (2023) J. Phys.: Conf. Ser. 2600, 172003. Google Environmental Reports 2023-2026. European Commission, COM(2026) 500 (EU 2024 data). Charts: authors' analysis of these sources.</a:t>
            </a:r>
          </a:p>
        </p:txBody>
      </p:sp>
    </p:spTree>
    <p:extLst>
      <p:ext uri="{BB962C8B-B14F-4D97-AF65-F5344CB8AC3E}">
        <p14:creationId xmlns:p14="http://schemas.microsoft.com/office/powerpoint/2010/main" val="697399779"/>
      </p:ext>
    </p:extLst>
  </p:cSld>
  <p:clrMapOvr>
    <a:masterClrMapping/>
  </p:clrMapOvr>
  <p:transition>
    <p:fade/>
  </p:transition>
</p:sld>
</file>

<file path=ppt/theme/theme1.xml><?xml version="1.0" encoding="utf-8"?>
<a:theme xmlns:a="http://schemas.openxmlformats.org/drawingml/2006/main" name="Poster">
  <a:themeElements>
    <a:clrScheme name="Custom 2">
      <a:dk1>
        <a:srgbClr val="0F172A"/>
      </a:dk1>
      <a:lt1>
        <a:srgbClr val="F8FAFC"/>
      </a:lt1>
      <a:dk2>
        <a:srgbClr val="0A2D50"/>
      </a:dk2>
      <a:lt2>
        <a:srgbClr val="F8FAFC"/>
      </a:lt2>
      <a:accent1>
        <a:srgbClr val="1E3A8A"/>
      </a:accent1>
      <a:accent2>
        <a:srgbClr val="0EA5E9"/>
      </a:accent2>
      <a:accent3>
        <a:srgbClr val="10B981"/>
      </a:accent3>
      <a:accent4>
        <a:srgbClr val="2BA3A1"/>
      </a:accent4>
      <a:accent5>
        <a:srgbClr val="009EA0"/>
      </a:accent5>
      <a:accent6>
        <a:srgbClr val="005AD2"/>
      </a:accent6>
      <a:hlink>
        <a:srgbClr val="0E7C7B"/>
      </a:hlink>
      <a:folHlink>
        <a:srgbClr val="0E7C7B"/>
      </a:folHlink>
    </a:clrScheme>
    <a:fontScheme name="Poster fonts">
      <a:majorFont>
        <a:latin typeface="Impact"/>
        <a:ea typeface=""/>
        <a:cs typeface=""/>
      </a:majorFont>
      <a:minorFont>
        <a:latin typeface="Georgi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A5C66"/>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D9C759D5D6D8F6438740F37125BCDC90" ma:contentTypeVersion="12" ma:contentTypeDescription="Create a new document." ma:contentTypeScope="" ma:versionID="056a4008392e2946120eb45979c2be17">
  <xsd:schema xmlns:xsd="http://www.w3.org/2001/XMLSchema" xmlns:xs="http://www.w3.org/2001/XMLSchema" xmlns:p="http://schemas.microsoft.com/office/2006/metadata/properties" xmlns:ns2="2953ddb7-f400-43b4-8901-e2d9988109ab" xmlns:ns3="eeb063a1-0bee-4885-98f2-1b22a334220e" targetNamespace="http://schemas.microsoft.com/office/2006/metadata/properties" ma:root="true" ma:fieldsID="9253b6042ec63dc4e9d4a819f3134c97" ns2:_="" ns3:_="">
    <xsd:import namespace="2953ddb7-f400-43b4-8901-e2d9988109ab"/>
    <xsd:import namespace="eeb063a1-0bee-4885-98f2-1b22a334220e"/>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DateTaken" minOccurs="0"/>
                <xsd:element ref="ns2:MediaServiceGenerationTime" minOccurs="0"/>
                <xsd:element ref="ns2:MediaServiceEventHashCode" minOccurs="0"/>
                <xsd:element ref="ns2:MediaServiceAutoKeyPoints" minOccurs="0"/>
                <xsd:element ref="ns2:MediaServiceKeyPoints" minOccurs="0"/>
                <xsd:element ref="ns3:SharedWithUsers" minOccurs="0"/>
                <xsd:element ref="ns3:SharedWithDetail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2953ddb7-f400-43b4-8901-e2d9988109a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DateTaken" ma:index="12" nillable="true" ma:displayName="MediaServiceDateTaken" ma:hidden="true" ma:internalName="MediaServiceDateTaken"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Location" ma:index="19" nillable="true" ma:displayName="Location"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eb063a1-0bee-4885-98f2-1b22a334220e" elementFormDefault="qualified">
    <xsd:import namespace="http://schemas.microsoft.com/office/2006/documentManagement/types"/>
    <xsd:import namespace="http://schemas.microsoft.com/office/infopath/2007/PartnerControls"/>
    <xsd:element name="SharedWithUsers" ma:index="17"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8"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267ED72A-FB12-4949-9029-EAA1951952D3}">
  <ds:schemaRefs>
    <ds:schemaRef ds:uri="http://schemas.microsoft.com/sharepoint/v3/contenttype/forms"/>
  </ds:schemaRefs>
</ds:datastoreItem>
</file>

<file path=customXml/itemProps2.xml><?xml version="1.0" encoding="utf-8"?>
<ds:datastoreItem xmlns:ds="http://schemas.openxmlformats.org/officeDocument/2006/customXml" ds:itemID="{679E66FA-14C3-4CCB-87E4-162EB372FF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2953ddb7-f400-43b4-8901-e2d9988109ab"/>
    <ds:schemaRef ds:uri="eeb063a1-0bee-4885-98f2-1b22a334220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9D565D0D-C940-424B-B985-17843DA6D8CF}">
  <ds:schemaRefs>
    <ds:schemaRef ds:uri="http://schemas.microsoft.com/office/2006/documentManagement/types"/>
    <ds:schemaRef ds:uri="2953ddb7-f400-43b4-8901-e2d9988109ab"/>
    <ds:schemaRef ds:uri="http://purl.org/dc/elements/1.1/"/>
    <ds:schemaRef ds:uri="eeb063a1-0bee-4885-98f2-1b22a334220e"/>
    <ds:schemaRef ds:uri="http://schemas.microsoft.com/office/infopath/2007/PartnerControls"/>
    <ds:schemaRef ds:uri="http://purl.org/dc/dcmitype/"/>
    <ds:schemaRef ds:uri="http://www.w3.org/XML/1998/namespace"/>
    <ds:schemaRef ds:uri="http://schemas.openxmlformats.org/package/2006/metadata/core-properties"/>
    <ds:schemaRef ds:uri="http://schemas.microsoft.com/office/2006/metadata/properties"/>
    <ds:schemaRef ds:uri="http://purl.org/dc/terms/"/>
  </ds:schemaRefs>
</ds:datastoreItem>
</file>

<file path=docProps/app.xml><?xml version="1.0" encoding="utf-8"?>
<Properties xmlns="http://schemas.openxmlformats.org/officeDocument/2006/extended-properties" xmlns:vt="http://schemas.openxmlformats.org/officeDocument/2006/docPropsVTypes">
  <Template/>
  <TotalTime>0</TotalTime>
  <Words>845</Words>
  <Application>Microsoft Office PowerPoint</Application>
  <PresentationFormat>Custom</PresentationFormat>
  <Paragraphs>47</Paragraphs>
  <Slides>1</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Poster</vt:lpstr>
      <vt:lpstr>Data centre water and energy: do published models match what Google reports?</vt:lpstr>
    </vt:vector>
  </TitlesOfParts>
  <Company>DAY 1</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centre water and energy: do published models match what Google reports?</dc:title>
  <dc:subject/>
  <dc:creator>Pablo Meijer</dc:creator>
  <cp:keywords/>
  <dc:description/>
  <cp:lastModifiedBy>Pablo Meijer</cp:lastModifiedBy>
  <cp:revision>42</cp:revision>
  <dcterms:created xsi:type="dcterms:W3CDTF">2015-07-17T13:33:29Z</dcterms:created>
  <dcterms:modified xsi:type="dcterms:W3CDTF">2026-10-29T12:44:03Z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0x010100D9C759D5D6D8F6438740F37125BCDC90</vt:lpwstr>
  </property>
</Properties>
</file>